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bin" ContentType="image/webp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b2103349e1645cf" /><Relationship Type="http://schemas.openxmlformats.org/officeDocument/2006/relationships/extended-properties" Target="/docProps/app.xml" Id="Rae6b27e96dfc4a94" /><Relationship Type="http://schemas.openxmlformats.org/officeDocument/2006/relationships/officeDocument" Target="/ppt/presentation.xml" Id="Rd4ef680b3a5f44c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e62324839184f3f"/>
  </p:sldMasterIdLst>
  <p:notesMasterIdLst>
    <p:notesMasterId xmlns:r="http://schemas.openxmlformats.org/officeDocument/2006/relationships" r:id="Re9e3f6d621a0412c"/>
  </p:notesMasterIdLst>
  <p:sldIdLst>
    <p:sldId xmlns:r="http://schemas.openxmlformats.org/officeDocument/2006/relationships" id="256" r:id="R3051964fb6fb4b47"/>
    <p:sldId xmlns:r="http://schemas.openxmlformats.org/officeDocument/2006/relationships" id="257" r:id="R473844ed4a374a41"/>
    <p:sldId xmlns:r="http://schemas.openxmlformats.org/officeDocument/2006/relationships" id="258" r:id="Re93e05080e394fb3"/>
    <p:sldId xmlns:r="http://schemas.openxmlformats.org/officeDocument/2006/relationships" id="259" r:id="Rdb7b5268daf24458"/>
    <p:sldId xmlns:r="http://schemas.openxmlformats.org/officeDocument/2006/relationships" id="260" r:id="R62ec5e1463c34ca0"/>
    <p:sldId xmlns:r="http://schemas.openxmlformats.org/officeDocument/2006/relationships" id="261" r:id="Rf619f07ee02c4747"/>
    <p:sldId xmlns:r="http://schemas.openxmlformats.org/officeDocument/2006/relationships" id="262" r:id="Rd4e25ed966194b73"/>
    <p:sldId xmlns:r="http://schemas.openxmlformats.org/officeDocument/2006/relationships" id="263" r:id="R0aa08a2ae36c4078"/>
    <p:sldId xmlns:r="http://schemas.openxmlformats.org/officeDocument/2006/relationships" id="264" r:id="Rc066b593bd5746f6"/>
    <p:sldId xmlns:r="http://schemas.openxmlformats.org/officeDocument/2006/relationships" id="265" r:id="Ra185002e0b2948e3"/>
    <p:sldId xmlns:r="http://schemas.openxmlformats.org/officeDocument/2006/relationships" id="266" r:id="R4fc36af394534066"/>
    <p:sldId xmlns:r="http://schemas.openxmlformats.org/officeDocument/2006/relationships" id="267" r:id="R518b02263af74137"/>
    <p:sldId xmlns:r="http://schemas.openxmlformats.org/officeDocument/2006/relationships" id="268" r:id="R3ea7dfa4a4994cdd"/>
    <p:sldId xmlns:r="http://schemas.openxmlformats.org/officeDocument/2006/relationships" id="269" r:id="Rb0d1fb1148ec48e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91505a8358a4b8b" /><Relationship Type="http://schemas.openxmlformats.org/officeDocument/2006/relationships/slideMaster" Target="/ppt/slideMasters/slideMaster1.xml" Id="R1e62324839184f3f" /><Relationship Type="http://schemas.openxmlformats.org/officeDocument/2006/relationships/notesMaster" Target="/ppt/notesMasters/notesMaster1.xml" Id="Re9e3f6d621a0412c" /><Relationship Type="http://schemas.openxmlformats.org/officeDocument/2006/relationships/presProps" Target="/ppt/presProps.xml" Id="R501a70c306c1466d" /><Relationship Type="http://schemas.openxmlformats.org/officeDocument/2006/relationships/tableStyles" Target="/ppt/tableStyles.xml" Id="R311d506b1d6d482f" /><Relationship Type="http://schemas.openxmlformats.org/officeDocument/2006/relationships/slide" Target="/ppt/slides/slide1.xml" Id="R3051964fb6fb4b47" /><Relationship Type="http://schemas.openxmlformats.org/officeDocument/2006/relationships/slide" Target="/ppt/slides/slide2.xml" Id="R473844ed4a374a41" /><Relationship Type="http://schemas.openxmlformats.org/officeDocument/2006/relationships/slide" Target="/ppt/slides/slide3.xml" Id="Re93e05080e394fb3" /><Relationship Type="http://schemas.openxmlformats.org/officeDocument/2006/relationships/slide" Target="/ppt/slides/slide4.xml" Id="Rdb7b5268daf24458" /><Relationship Type="http://schemas.openxmlformats.org/officeDocument/2006/relationships/slide" Target="/ppt/slides/slide5.xml" Id="R62ec5e1463c34ca0" /><Relationship Type="http://schemas.openxmlformats.org/officeDocument/2006/relationships/slide" Target="/ppt/slides/slide6.xml" Id="Rf619f07ee02c4747" /><Relationship Type="http://schemas.openxmlformats.org/officeDocument/2006/relationships/slide" Target="/ppt/slides/slide7.xml" Id="Rd4e25ed966194b73" /><Relationship Type="http://schemas.openxmlformats.org/officeDocument/2006/relationships/slide" Target="/ppt/slides/slide8.xml" Id="R0aa08a2ae36c4078" /><Relationship Type="http://schemas.openxmlformats.org/officeDocument/2006/relationships/slide" Target="/ppt/slides/slide9.xml" Id="Rc066b593bd5746f6" /><Relationship Type="http://schemas.openxmlformats.org/officeDocument/2006/relationships/slide" Target="/ppt/slides/slide10.xml" Id="Ra185002e0b2948e3" /><Relationship Type="http://schemas.openxmlformats.org/officeDocument/2006/relationships/slide" Target="/ppt/slides/slide11.xml" Id="R4fc36af394534066" /><Relationship Type="http://schemas.openxmlformats.org/officeDocument/2006/relationships/slide" Target="/ppt/slides/slide12.xml" Id="R518b02263af74137" /><Relationship Type="http://schemas.openxmlformats.org/officeDocument/2006/relationships/slide" Target="/ppt/slides/slide13.xml" Id="R3ea7dfa4a4994cdd" /><Relationship Type="http://schemas.openxmlformats.org/officeDocument/2006/relationships/slide" Target="/ppt/slides/slide14.xml" Id="Rb0d1fb1148ec48e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1d040ac509848c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c44ffd0e52c411c" /><Relationship Type="http://schemas.openxmlformats.org/officeDocument/2006/relationships/notesMaster" Target="/ppt/notesMasters/notesMaster1.xml" Id="R249745b2720b4ed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3cf7deb25904dba" /><Relationship Type="http://schemas.openxmlformats.org/officeDocument/2006/relationships/notesMaster" Target="/ppt/notesMasters/notesMaster1.xml" Id="Rcce82bdfdaa34c4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fc15c56cc3e4023" /><Relationship Type="http://schemas.openxmlformats.org/officeDocument/2006/relationships/notesMaster" Target="/ppt/notesMasters/notesMaster1.xml" Id="R0f5dd5c2a3fa421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8b099e5995d4d58" /><Relationship Type="http://schemas.openxmlformats.org/officeDocument/2006/relationships/notesMaster" Target="/ppt/notesMasters/notesMaster1.xml" Id="R8412521eb3f5482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0b089482f6c4af0" /><Relationship Type="http://schemas.openxmlformats.org/officeDocument/2006/relationships/notesMaster" Target="/ppt/notesMasters/notesMaster1.xml" Id="R4545c598a62d444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99fe7d920e24bd1" /><Relationship Type="http://schemas.openxmlformats.org/officeDocument/2006/relationships/notesMaster" Target="/ppt/notesMasters/notesMaster1.xml" Id="R57a55b5404f44a8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804f377a4024c0f" /><Relationship Type="http://schemas.openxmlformats.org/officeDocument/2006/relationships/notesMaster" Target="/ppt/notesMasters/notesMaster1.xml" Id="Rd8ed95cc2c0145b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e7e150d52a44c35" /><Relationship Type="http://schemas.openxmlformats.org/officeDocument/2006/relationships/notesMaster" Target="/ppt/notesMasters/notesMaster1.xml" Id="Rbbb097509c4d4e8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d50375ad4414348" /><Relationship Type="http://schemas.openxmlformats.org/officeDocument/2006/relationships/notesMaster" Target="/ppt/notesMasters/notesMaster1.xml" Id="Ra74f543a150142e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229c68726374ee9" /><Relationship Type="http://schemas.openxmlformats.org/officeDocument/2006/relationships/notesMaster" Target="/ppt/notesMasters/notesMaster1.xml" Id="R8d6692bf35a84ae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2c13fbc84e44b92" /><Relationship Type="http://schemas.openxmlformats.org/officeDocument/2006/relationships/notesMaster" Target="/ppt/notesMasters/notesMaster1.xml" Id="Rfc7d4e2eef6845a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61fa7d2e5cc4a8a" /><Relationship Type="http://schemas.openxmlformats.org/officeDocument/2006/relationships/notesMaster" Target="/ppt/notesMasters/notesMaster1.xml" Id="R5ce477f5eb8b4da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33506a5515d4529" /><Relationship Type="http://schemas.openxmlformats.org/officeDocument/2006/relationships/notesMaster" Target="/ppt/notesMasters/notesMaster1.xml" Id="R8547182565de400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0ecbbffdb8b4347" /><Relationship Type="http://schemas.openxmlformats.org/officeDocument/2006/relationships/notesMaster" Target="/ppt/notesMasters/notesMaster1.xml" Id="R90ce0761cbb143f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AI-CG-Studio local repository and running application, inspected 2026-07-30.</a:t>
            </a:r>
          </a:p>
          <a:p xmlns:a="http://schemas.openxmlformats.org/drawingml/2006/main">
            <a:r>
              <a:t>- Cover background: generated with OpenAI image generation for this presentation; original industrial field-record editorial concept.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AI-CG-Studio local repository and running application, inspected 2026-07-30.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AI-CG-Studio local repository and running application, inspected 2026-07-30.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AI-CG-Studio local repository and running application, inspected 2026-07-30.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AI-CG-Studio local repository and running application, inspected 2026-07-30.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AI-CG-Studio local repository and running application, inspected 2026-07-30.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AI-CG-Studio local repository and running application, inspected 2026-07-30.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AI-CG-Studio local repository and running application, inspected 2026-07-30.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AI-CG-Studio local repository and running application, inspected 2026-07-30.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AI-CG-Studio local repository and running application, inspected 2026-07-30.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AI-CG-Studio local repository and running application, inspected 2026-07-30.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AI-CG-Studio local repository and running application, inspected 2026-07-30.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AI-CG-Studio local repository and running application, inspected 2026-07-30.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AI-CG-Studio local repository and running application, inspected 2026-07-30.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87e3350ec04ac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f44788c55514cb0" /><Relationship Type="http://schemas.openxmlformats.org/officeDocument/2006/relationships/slideLayout" Target="/ppt/slideLayouts/slideLayout1.xml" Id="R6385824b029046c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385824b029046c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4b65f454c74a10" /><Relationship Type="http://schemas.openxmlformats.org/officeDocument/2006/relationships/image" Target="/ppt/media/image.png" Id="R4d4361496b604a77" /><Relationship Type="http://schemas.openxmlformats.org/officeDocument/2006/relationships/notesSlide" Target="/ppt/notesSlides/notesSlide1.xml" Id="Rdff692be55a445a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6904a7c1934d24" /><Relationship Type="http://schemas.openxmlformats.org/officeDocument/2006/relationships/image" Target="/ppt/media/image.bin" Id="Rc92e08f0daa64215" /><Relationship Type="http://schemas.openxmlformats.org/officeDocument/2006/relationships/image" Target="/ppt/media/image2.bin" Id="Rd1be626aaf5f48de" /><Relationship Type="http://schemas.openxmlformats.org/officeDocument/2006/relationships/notesSlide" Target="/ppt/notesSlides/notesSlide2.xml" Id="Raf7e1fe15b90448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b380cb2d434374" /><Relationship Type="http://schemas.openxmlformats.org/officeDocument/2006/relationships/image" Target="/ppt/media/image.jpeg" Id="R2888bf7cdde24589" /><Relationship Type="http://schemas.openxmlformats.org/officeDocument/2006/relationships/notesSlide" Target="/ppt/notesSlides/notesSlide3.xml" Id="R374aa949205747e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fd10b235b54a30" /><Relationship Type="http://schemas.openxmlformats.org/officeDocument/2006/relationships/image" Target="/ppt/media/image2.jpeg" Id="Rf12073d2b6604623" /><Relationship Type="http://schemas.openxmlformats.org/officeDocument/2006/relationships/notesSlide" Target="/ppt/notesSlides/notesSlide4.xml" Id="Rddaa612c4be94f5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c9ba44f2294735" /><Relationship Type="http://schemas.openxmlformats.org/officeDocument/2006/relationships/image" Target="/ppt/media/image3.jpeg" Id="R92bdf79af3ec4335" /><Relationship Type="http://schemas.openxmlformats.org/officeDocument/2006/relationships/notesSlide" Target="/ppt/notesSlides/notesSlide5.xml" Id="R393df9a4d52245b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172d01336a466e" /><Relationship Type="http://schemas.openxmlformats.org/officeDocument/2006/relationships/notesSlide" Target="/ppt/notesSlides/notesSlide6.xml" Id="Rb0568a662552432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faa6bcb4d64869" /><Relationship Type="http://schemas.openxmlformats.org/officeDocument/2006/relationships/image" Target="/ppt/media/image4.jpeg" Id="R288bbac3e878412b" /><Relationship Type="http://schemas.openxmlformats.org/officeDocument/2006/relationships/notesSlide" Target="/ppt/notesSlides/notesSlide7.xml" Id="R335df1414c0f403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99bb12e5434668" /><Relationship Type="http://schemas.openxmlformats.org/officeDocument/2006/relationships/notesSlide" Target="/ppt/notesSlides/notesSlide8.xml" Id="Rbef10e4378da45f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1e8295f07e41b6" /><Relationship Type="http://schemas.openxmlformats.org/officeDocument/2006/relationships/image" Target="/ppt/media/image5.jpeg" Id="R4961bed66e9c4939" /><Relationship Type="http://schemas.openxmlformats.org/officeDocument/2006/relationships/image" Target="/ppt/media/image6.jpeg" Id="R38c032a39f064823" /><Relationship Type="http://schemas.openxmlformats.org/officeDocument/2006/relationships/notesSlide" Target="/ppt/notesSlides/notesSlide9.xml" Id="Ra99961818b2c43a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03a7a6fc1649ed" /><Relationship Type="http://schemas.openxmlformats.org/officeDocument/2006/relationships/notesSlide" Target="/ppt/notesSlides/notesSlide10.xml" Id="Rb337e85590824e0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53a668f6444c48" /><Relationship Type="http://schemas.openxmlformats.org/officeDocument/2006/relationships/image" Target="/ppt/media/image7.jpeg" Id="R473df5b2874d4954" /><Relationship Type="http://schemas.openxmlformats.org/officeDocument/2006/relationships/notesSlide" Target="/ppt/notesSlides/notesSlide11.xml" Id="R23834f8f48ab450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4a49ebe56640c3" /><Relationship Type="http://schemas.openxmlformats.org/officeDocument/2006/relationships/image" Target="/ppt/media/image8.jpeg" Id="Rf641971d85bf4651" /><Relationship Type="http://schemas.openxmlformats.org/officeDocument/2006/relationships/notesSlide" Target="/ppt/notesSlides/notesSlide12.xml" Id="Rf5c0fbacf4fc43e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87be08175741d6" /><Relationship Type="http://schemas.openxmlformats.org/officeDocument/2006/relationships/notesSlide" Target="/ppt/notesSlides/notesSlide13.xml" Id="Re4007e30442b4b9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b8b3a64deb4af8" /><Relationship Type="http://schemas.openxmlformats.org/officeDocument/2006/relationships/notesSlide" Target="/ppt/notesSlides/notesSlide14.xml" Id="Rbceffb63a277449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D0F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4361496b604a77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FBD928-8435-4780-A01B-4C17319FF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905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5D9">
              <a:alpha val="85098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AADF2F-0E8C-46AE-B694-49831C285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B6462D"/>
                </a:solidFill>
              </a:defRPr>
            </a:pPr>
            <a:r>
              <a:rPr sz="1050" b="1" i="0">
                <a:solidFill>
                  <a:srgbClr val="B6462D"/>
                </a:solidFill>
              </a:rPr>
              <a:t>FIELD RECORD  /  2026.07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485137-1659-4019-9CFC-D448F4C60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3714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C5FFCE-CFF7-479A-8D4E-329C07006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350" b="1" i="0">
                <a:solidFill>
                  <a:srgbClr val="17191A"/>
                </a:solidFill>
              </a:defRPr>
            </a:pPr>
            <a:r>
              <a:rPr sz="4350" b="1" i="0">
                <a:solidFill>
                  <a:srgbClr val="17191A"/>
                </a:solidFill>
              </a:rPr>
              <a:t>绫季绘境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BA05C5-BE6B-4829-BE89-5ED86C730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00300"/>
            <a:ext cx="428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7191A"/>
                </a:solidFill>
              </a:defRPr>
            </a:pPr>
            <a:r>
              <a:rPr sz="1650" b="1" i="0">
                <a:solidFill>
                  <a:srgbClr val="17191A"/>
                </a:solidFill>
              </a:rPr>
              <a:t>AI-CG-STUDIO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09C42F-CBDE-4040-B03F-2AFE8AA99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00400"/>
            <a:ext cx="40957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7191A"/>
                </a:solidFill>
              </a:defRPr>
            </a:pPr>
            <a:r>
              <a:rPr sz="1875" b="1" i="0">
                <a:solidFill>
                  <a:srgbClr val="17191A"/>
                </a:solidFill>
              </a:rPr>
              <a:t>把故事瞬间，组织成一张可以生成、可以回看、也可以继续生长的 CG。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73CE0F-0E76-4556-8E40-BFF95875E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102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B6462D"/>
                </a:solidFill>
              </a:defRPr>
            </a:pPr>
            <a:r>
              <a:rPr sz="900" b="1" i="0">
                <a:solidFill>
                  <a:srgbClr val="B6462D"/>
                </a:solidFill>
              </a:rPr>
              <a:t>LOCAL-FIRST  ·  SCENE-DRIVEN  ·  PRIVATE BY DESIGN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9048B6-C27C-474D-AAE2-D3E44BD61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1912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F7F3E9"/>
                </a:solidFill>
              </a:defRPr>
            </a:pPr>
            <a:r>
              <a:rPr sz="900" b="1" i="0">
                <a:solidFill>
                  <a:srgbClr val="F7F3E9"/>
                </a:solidFill>
              </a:rPr>
              <a:t>PROJECT INTRODUCTION</a:t>
            </a:r>
          </a:p>
        </p:txBody>
      </p:sp>
    </p:spTree>
    <p:extLst>
      <p:ext uri="{BB962C8B-B14F-4D97-AF65-F5344CB8AC3E}">
        <p14:creationId xmlns:p14="http://schemas.microsoft.com/office/powerpoint/2010/main" val="81641523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EAE5D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8F1C76-62A6-4919-8D30-017E15B78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6413D1-8B1C-469D-A7E7-6D961954A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619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B6462D"/>
                </a:solidFill>
              </a:defRPr>
            </a:pPr>
            <a:r>
              <a:rPr sz="1200" b="1" i="0">
                <a:solidFill>
                  <a:srgbClr val="B6462D"/>
                </a:solidFill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F46B5A-042B-400B-87C5-4B29567CA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71475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6F706D"/>
                </a:solidFill>
              </a:defRPr>
            </a:pPr>
            <a:r>
              <a:rPr sz="1050" b="1" i="0">
                <a:solidFill>
                  <a:srgbClr val="6F706D"/>
                </a:solidFill>
              </a:rPr>
              <a:t>MISSION / PRODUCT POSTURE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2E180E-9D89-44C9-B288-166FA6A68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7191A"/>
                </a:solidFill>
              </a:defRPr>
            </a:pPr>
            <a:r>
              <a:rPr sz="2850" b="1" i="0">
                <a:solidFill>
                  <a:srgbClr val="17191A"/>
                </a:solidFill>
              </a:rPr>
              <a:t>它不是一个提示词工具，而是一间本地创作工作室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8C728D-768D-402B-8DCE-80B99511B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97F26E-610B-464B-9974-B8064E200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8115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F706D"/>
                </a:solidFill>
              </a:defRPr>
            </a:pPr>
            <a:r>
              <a:rPr sz="1350" b="0" i="0">
                <a:solidFill>
                  <a:srgbClr val="6F706D"/>
                </a:solidFill>
              </a:rPr>
              <a:t>围绕“场景”组织角色、镜头、光照、模型、生成、配音与作品管理。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9A1204-A488-4FC1-AAF5-A77DB1465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643890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6F706D"/>
                </a:solidFill>
              </a:defRPr>
            </a:pPr>
            <a:r>
              <a:rPr sz="825" b="0" i="0">
                <a:solidFill>
                  <a:srgbClr val="6F706D"/>
                </a:solidFill>
              </a:rPr>
              <a:t>AI-CG-STUDIO / FIELD RECORD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3AAF3F-6F20-48C7-9F50-A79D33087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41910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0C3CD8-F4B0-4E25-8DFC-E1C5A53B3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667000"/>
            <a:ext cx="3429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75" b="1" i="0">
                <a:solidFill>
                  <a:srgbClr val="F7F3E9"/>
                </a:solidFill>
              </a:defRPr>
            </a:pPr>
            <a:r>
              <a:rPr sz="2475" b="1" i="0">
                <a:solidFill>
                  <a:srgbClr val="F7F3E9"/>
                </a:solidFill>
              </a:rPr>
              <a:t>ONE MOMENT</a:t>
            </a:r>
          </a:p>
          <a:p xmlns:a="http://schemas.openxmlformats.org/drawingml/2006/main">
            <a:pPr algn="l">
              <a:defRPr sz="2475" b="1" i="0">
                <a:solidFill>
                  <a:srgbClr val="F7F3E9"/>
                </a:solidFill>
              </a:defRPr>
            </a:pPr>
            <a:r>
              <a:rPr sz="2475" b="1" i="0">
                <a:solidFill>
                  <a:srgbClr val="F7F3E9"/>
                </a:solidFill>
              </a:rPr>
              <a:t>ONE SCENE</a:t>
            </a:r>
          </a:p>
          <a:p xmlns:a="http://schemas.openxmlformats.org/drawingml/2006/main">
            <a:pPr algn="l">
              <a:defRPr sz="2475" b="1" i="0">
                <a:solidFill>
                  <a:srgbClr val="F7F3E9"/>
                </a:solidFill>
              </a:defRPr>
            </a:pPr>
            <a:r>
              <a:rPr sz="2475" b="1" i="0">
                <a:solidFill>
                  <a:srgbClr val="F7F3E9"/>
                </a:solidFill>
              </a:rPr>
              <a:t>ONE COMPLETE RECORD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C87FFB-9F02-4310-8EA1-F8F3FA47A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62450"/>
            <a:ext cx="1428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46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16AD3D-60B5-44BF-982A-F88071031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648200"/>
            <a:ext cx="323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F7F3E9"/>
                </a:solidFill>
              </a:defRPr>
            </a:pPr>
            <a:r>
              <a:rPr sz="1575" b="1" i="0">
                <a:solidFill>
                  <a:srgbClr val="F7F3E9"/>
                </a:solidFill>
              </a:rPr>
              <a:t>个人使用 · 本机运行 · 可信分享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CA3296-79C3-400C-84BF-525B7CC1E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067300"/>
            <a:ext cx="333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D8D1C3"/>
                </a:solidFill>
              </a:defRPr>
            </a:pPr>
            <a:r>
              <a:rPr sz="1200" b="0" i="0">
                <a:solidFill>
                  <a:srgbClr val="D8D1C3"/>
                </a:solidFill>
              </a:rPr>
              <a:t>数据和生成结果主要留在浏览器与本机；不依赖账户系统或云端社区。</a:t>
            </a:r>
          </a:p>
        </p:txBody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2e08f0daa64215"/>
          <a:srcRect xmlns:a="http://schemas.openxmlformats.org/drawingml/2006/main" l="0" t="2038" r="0" b="203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0" y="2286000"/>
            <a:ext cx="2647950" cy="3333750"/>
          </a:xfrm>
          <a:prstGeom xmlns:a="http://schemas.openxmlformats.org/drawingml/2006/main" prst="rect">
            <a:avLst/>
          </a:prstGeom>
        </p:spPr>
      </p:pic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be626aaf5f48de"/>
          <a:srcRect xmlns:a="http://schemas.openxmlformats.org/drawingml/2006/main" l="0" t="2038" r="0" b="203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10550" y="2286000"/>
            <a:ext cx="2647950" cy="3333750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36F673-4B91-42A4-8860-1A55126F0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5219700"/>
            <a:ext cx="838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46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BA5F2A-CDAC-4415-8C56-B6A15DA73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267325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F7F3E9"/>
                </a:solidFill>
              </a:defRPr>
            </a:pPr>
            <a:r>
              <a:rPr sz="900" b="1" i="0">
                <a:solidFill>
                  <a:srgbClr val="F7F3E9"/>
                </a:solidFill>
              </a:rPr>
              <a:t>NENE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EF2446-95AC-42F9-BC69-E6070704F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5219700"/>
            <a:ext cx="1066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7D0279-DDCB-4E17-8A23-5CE21AC9A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5267325"/>
            <a:ext cx="876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F7F3E9"/>
                </a:solidFill>
              </a:defRPr>
            </a:pPr>
            <a:r>
              <a:rPr sz="900" b="1" i="0">
                <a:solidFill>
                  <a:srgbClr val="F7F3E9"/>
                </a:solidFill>
              </a:rPr>
              <a:t>NATSUME</a:t>
            </a:r>
          </a:p>
        </p:txBody>
      </p:sp>
    </p:spTree>
    <p:extLst>
      <p:ext uri="{BB962C8B-B14F-4D97-AF65-F5344CB8AC3E}">
        <p14:creationId xmlns:p14="http://schemas.microsoft.com/office/powerpoint/2010/main" val="53094914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EAE5D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F366739-7AA2-45DB-962C-D45A36896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46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687038-F9EF-4645-9AA1-87B322FB1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619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B6462D"/>
                </a:solidFill>
              </a:defRPr>
            </a:pPr>
            <a:r>
              <a:rPr sz="1200" b="1" i="0">
                <a:solidFill>
                  <a:srgbClr val="B6462D"/>
                </a:solidFill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D1EF9E-253C-4701-A4E6-E8CD7F4AD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71475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6F706D"/>
                </a:solidFill>
              </a:defRPr>
            </a:pPr>
            <a:r>
              <a:rPr sz="1050" b="1" i="0">
                <a:solidFill>
                  <a:srgbClr val="6F706D"/>
                </a:solidFill>
              </a:rPr>
              <a:t>WORKFLOW / END-TO-END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5105F8-1C92-4390-941A-CF5C25AA1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7191A"/>
                </a:solidFill>
              </a:defRPr>
            </a:pPr>
            <a:r>
              <a:rPr sz="2850" b="1" i="0">
                <a:solidFill>
                  <a:srgbClr val="17191A"/>
                </a:solidFill>
              </a:rPr>
              <a:t>从故事念头到可追溯成片，工作流只围绕一个场景展开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62AAED-C3D9-4C47-8807-405CEAC67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52AE62-8F5A-4D69-848B-DAAF82096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8115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F706D"/>
                </a:solidFill>
              </a:defRPr>
            </a:pPr>
            <a:r>
              <a:rPr sz="1350" b="0" i="0">
                <a:solidFill>
                  <a:srgbClr val="6F706D"/>
                </a:solidFill>
              </a:rPr>
              <a:t>用户先选择“想画的瞬间”，系统再补齐结构，而不是从空白 Prompt 开始。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15A085-0DD0-481A-9391-B8522C36B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643890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6F706D"/>
                </a:solidFill>
              </a:defRPr>
            </a:pPr>
            <a:r>
              <a:rPr sz="825" b="0" i="0">
                <a:solidFill>
                  <a:srgbClr val="6F706D"/>
                </a:solidFill>
              </a:rPr>
              <a:t>AI-CG-STUDIO / FIELD RECORD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966181-E4EC-4D78-BF7A-F00B91E9B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2028825"/>
            <a:ext cx="4476750" cy="401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A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88bf7cdde24589"/>
          <a:srcRect xmlns:a="http://schemas.openxmlformats.org/drawingml/2006/main" l="0" t="9959" r="0" b="995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43700" y="2114550"/>
            <a:ext cx="4305300" cy="3848100"/>
          </a:xfrm>
          <a:prstGeom xmlns:a="http://schemas.openxmlformats.org/drawingml/2006/main" prst="roundRect">
            <a:avLst>
              <a:gd name="adj" fmla="val 495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5C9322-47F3-43BF-BB0C-C78D2F532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556260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46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4260C7-C180-4F30-A874-9782312A8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610225"/>
            <a:ext cx="219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F7F3E9"/>
                </a:solidFill>
              </a:defRPr>
            </a:pPr>
            <a:r>
              <a:rPr sz="900" b="1" i="0">
                <a:solidFill>
                  <a:srgbClr val="F7F3E9"/>
                </a:solidFill>
              </a:rPr>
              <a:t>HOME / CREATION ENTRY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A3FD3A-EA9D-45AA-B9C0-DE42AD4EC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669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B6462D"/>
                </a:solidFill>
              </a:defRPr>
            </a:pPr>
            <a:r>
              <a:rPr sz="1200" b="1" i="0">
                <a:solidFill>
                  <a:srgbClr val="B6462D"/>
                </a:solidFill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696632-904E-435A-AA1B-E546067D2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2479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7191A"/>
                </a:solidFill>
              </a:defRPr>
            </a:pPr>
            <a:r>
              <a:rPr sz="1800" b="1" i="0">
                <a:solidFill>
                  <a:srgbClr val="17191A"/>
                </a:solidFill>
              </a:rPr>
              <a:t>灵感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080CA5-C239-43B1-9B0C-FA300389C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276475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F706D"/>
                </a:solidFill>
              </a:defRPr>
            </a:pPr>
            <a:r>
              <a:rPr sz="1200" b="0" i="0">
                <a:solidFill>
                  <a:srgbClr val="6F706D"/>
                </a:solidFill>
              </a:rPr>
              <a:t>近 300 个场景按人物、情绪与主题检索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1F64D6-F4AD-46D6-921B-660C0A09A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867025"/>
            <a:ext cx="4619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2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1703ED-4B19-4815-8608-38A9F50A2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432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B6462D"/>
                </a:solidFill>
              </a:defRPr>
            </a:pPr>
            <a:r>
              <a:rPr sz="1200" b="1" i="0">
                <a:solidFill>
                  <a:srgbClr val="B6462D"/>
                </a:solidFill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14988B-69F5-42A0-A50C-13D76571F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1242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7191A"/>
                </a:solidFill>
              </a:defRPr>
            </a:pPr>
            <a:r>
              <a:rPr sz="1800" b="1" i="0">
                <a:solidFill>
                  <a:srgbClr val="17191A"/>
                </a:solidFill>
              </a:rPr>
              <a:t>导演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44859E-1198-438C-A6B8-0FCD4A583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152775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F706D"/>
                </a:solidFill>
              </a:defRPr>
            </a:pPr>
            <a:r>
              <a:rPr sz="1200" b="0" i="0">
                <a:solidFill>
                  <a:srgbClr val="6F706D"/>
                </a:solidFill>
              </a:rPr>
              <a:t>场景模式减负；专家模式展开完整结构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2F276B-3B29-4400-800F-DA3DFCB8D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743325"/>
            <a:ext cx="4619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2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7656E3-2757-4D93-B09A-04C2815C9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195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B6462D"/>
                </a:solidFill>
              </a:defRPr>
            </a:pPr>
            <a:r>
              <a:rPr sz="1200" b="1" i="0">
                <a:solidFill>
                  <a:srgbClr val="B6462D"/>
                </a:solidFill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60E6426-AEC3-4864-841A-C7CC15CBD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0005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7191A"/>
                </a:solidFill>
              </a:defRPr>
            </a:pPr>
            <a:r>
              <a:rPr sz="1800" b="1" i="0">
                <a:solidFill>
                  <a:srgbClr val="17191A"/>
                </a:solidFill>
              </a:rPr>
              <a:t>生成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08A757-5CFA-40EB-AFDA-B17860B04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029075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F706D"/>
                </a:solidFill>
              </a:defRPr>
            </a:pPr>
            <a:r>
              <a:rPr sz="1200" b="0" i="0">
                <a:solidFill>
                  <a:srgbClr val="6F706D"/>
                </a:solidFill>
              </a:rPr>
              <a:t>模型、LoRA、队列、恢复动作统一处理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4DAD4F4-2342-492A-80E1-630584929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619625"/>
            <a:ext cx="4619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2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8768FDD-3522-4F23-B3D2-309E03C40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958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B6462D"/>
                </a:solidFill>
              </a:defRPr>
            </a:pPr>
            <a:r>
              <a:rPr sz="1200" b="1" i="0">
                <a:solidFill>
                  <a:srgbClr val="B6462D"/>
                </a:solidFill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DE73AFF-A5EE-4C28-B63A-322040830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8768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7191A"/>
                </a:solidFill>
              </a:defRPr>
            </a:pPr>
            <a:r>
              <a:rPr sz="1800" b="1" i="0">
                <a:solidFill>
                  <a:srgbClr val="17191A"/>
                </a:solidFill>
              </a:rPr>
              <a:t>回看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C9AC678-7326-4DC3-84C0-C2C908449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905375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F706D"/>
                </a:solidFill>
              </a:defRPr>
            </a:pPr>
            <a:r>
              <a:rPr sz="1200" b="0" i="0">
                <a:solidFill>
                  <a:srgbClr val="6F706D"/>
                </a:solidFill>
              </a:rPr>
              <a:t>样张、作品册与历史记录保留生成上下文</a:t>
            </a:r>
          </a:p>
        </p:txBody>
      </p:sp>
    </p:spTree>
    <p:extLst>
      <p:ext uri="{BB962C8B-B14F-4D97-AF65-F5344CB8AC3E}">
        <p14:creationId xmlns:p14="http://schemas.microsoft.com/office/powerpoint/2010/main" val="71615565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EAE5D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D091EB-68D8-43F4-BFEF-41D76926E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B5F9B3-A3A3-4A7A-ABA7-B38C985FC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619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B6462D"/>
                </a:solidFill>
              </a:defRPr>
            </a:pPr>
            <a:r>
              <a:rPr sz="1200" b="1" i="0">
                <a:solidFill>
                  <a:srgbClr val="B6462D"/>
                </a:solidFill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DBA0B1-E463-4446-8FA9-5BC9815AA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71475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6F706D"/>
                </a:solidFill>
              </a:defRPr>
            </a:pPr>
            <a:r>
              <a:rPr sz="1050" b="1" i="0">
                <a:solidFill>
                  <a:srgbClr val="6F706D"/>
                </a:solidFill>
              </a:rPr>
              <a:t>SCENE SYSTEM / DISCOVERY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826B96-B342-48AD-95B7-7E852290A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7191A"/>
                </a:solidFill>
              </a:defRPr>
            </a:pPr>
            <a:r>
              <a:rPr sz="2850" b="1" i="0">
                <a:solidFill>
                  <a:srgbClr val="17191A"/>
                </a:solidFill>
              </a:rPr>
              <a:t>场景库把角色、情绪、构图与叙事一起交给用户选择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50D055-F62D-4873-8C98-02D9676DC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516C0D-90A8-4975-8C22-E0460B98A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8115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F706D"/>
                </a:solidFill>
              </a:defRPr>
            </a:pPr>
            <a:r>
              <a:rPr sz="1350" b="0" i="0">
                <a:solidFill>
                  <a:srgbClr val="6F706D"/>
                </a:solidFill>
              </a:rPr>
              <a:t>精选入口保持轻量；完整库支持搜索、筛选、收藏、最近使用与个人场景。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40A213-8EDB-4C77-AA6A-DF076AC82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643890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6F706D"/>
                </a:solidFill>
              </a:defRPr>
            </a:pPr>
            <a:r>
              <a:rPr sz="825" b="0" i="0">
                <a:solidFill>
                  <a:srgbClr val="6F706D"/>
                </a:solidFill>
              </a:rPr>
              <a:t>AI-CG-STUDIO / FIELD RECORD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F56957-87C4-4967-9A8F-13B227128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2009775"/>
            <a:ext cx="5467350" cy="407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A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2073d2b6604623"/>
          <a:srcRect xmlns:a="http://schemas.openxmlformats.org/drawingml/2006/main" l="0" t="16965" r="0" b="1696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53100" y="2095500"/>
            <a:ext cx="5295900" cy="3905250"/>
          </a:xfrm>
          <a:prstGeom xmlns:a="http://schemas.openxmlformats.org/drawingml/2006/main" prst="roundRect">
            <a:avLst>
              <a:gd name="adj" fmla="val 488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23BF85-4CD5-4811-876F-789B47D9F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560070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46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EE435D-1C47-43B1-BDE0-CDBF71C5A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5648325"/>
            <a:ext cx="219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F7F3E9"/>
                </a:solidFill>
              </a:defRPr>
            </a:pPr>
            <a:r>
              <a:rPr sz="900" b="1" i="0">
                <a:solidFill>
                  <a:srgbClr val="F7F3E9"/>
                </a:solidFill>
              </a:rPr>
              <a:t>SCENE EXPLORER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F317E7-C4C7-4113-B6AE-3F6C0E8B9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8600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B6462D"/>
                </a:solidFill>
              </a:defRPr>
            </a:pPr>
            <a:r>
              <a:rPr sz="1050" b="1" i="0">
                <a:solidFill>
                  <a:srgbClr val="B6462D"/>
                </a:solidFill>
              </a:rPr>
              <a:t>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C5FBAD-1272-4314-B4AE-CC59F0AC1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266950"/>
            <a:ext cx="4057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7191A"/>
                </a:solidFill>
              </a:defRPr>
            </a:pPr>
            <a:r>
              <a:rPr sz="1650" b="1" i="0">
                <a:solidFill>
                  <a:srgbClr val="17191A"/>
                </a:solidFill>
              </a:rPr>
              <a:t>近 300 个场景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CCF460-2593-42AC-80BB-11163F21B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609850"/>
            <a:ext cx="40576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F706D"/>
                </a:solidFill>
              </a:defRPr>
            </a:pPr>
            <a:r>
              <a:rPr sz="1200" b="0" i="0">
                <a:solidFill>
                  <a:srgbClr val="6F706D"/>
                </a:solidFill>
              </a:rPr>
              <a:t>恋爱、日常、校园、旅行、节日、剧情、同人等类别，兼顾单人与双人叙事。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E2C0A9-0470-4B5D-AD68-40B93DA49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76625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B6462D"/>
                </a:solidFill>
              </a:defRPr>
            </a:pPr>
            <a:r>
              <a:rPr sz="1050" b="1" i="0">
                <a:solidFill>
                  <a:srgbClr val="B6462D"/>
                </a:solidFill>
              </a:rPr>
              <a:t>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9F4AA4-B992-4AAF-A4FD-A7F82CFCE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457575"/>
            <a:ext cx="4057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7191A"/>
                </a:solidFill>
              </a:defRPr>
            </a:pPr>
            <a:r>
              <a:rPr sz="1650" b="1" i="0">
                <a:solidFill>
                  <a:srgbClr val="17191A"/>
                </a:solidFill>
              </a:rPr>
              <a:t>评级与遮罩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165254-03EE-4C2A-A852-C38D6023B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800475"/>
            <a:ext cx="40576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F706D"/>
                </a:solidFill>
              </a:defRPr>
            </a:pPr>
            <a:r>
              <a:rPr sz="1200" b="0" i="0">
                <a:solidFill>
                  <a:srgbClr val="6F706D"/>
                </a:solidFill>
              </a:rPr>
              <a:t>All / R15 / R18 由内容标签统一管理；成人缩略图与样张默认保留模糊遮罩。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E1A11B-D2C3-4869-BACE-0513C4BA7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6725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B6462D"/>
                </a:solidFill>
              </a:defRPr>
            </a:pPr>
            <a:r>
              <a:rPr sz="1050" b="1" i="0">
                <a:solidFill>
                  <a:srgbClr val="B6462D"/>
                </a:solidFill>
              </a:rPr>
              <a:t>C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4FB364E-7198-4F75-90DA-FFBC602B9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648200"/>
            <a:ext cx="4057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7191A"/>
                </a:solidFill>
              </a:defRPr>
            </a:pPr>
            <a:r>
              <a:rPr sz="1650" b="1" i="0">
                <a:solidFill>
                  <a:srgbClr val="17191A"/>
                </a:solidFill>
              </a:rPr>
              <a:t>从场景直接开画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70C1C28-185D-47E5-B359-CA27B4670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991100"/>
            <a:ext cx="40576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F706D"/>
                </a:solidFill>
              </a:defRPr>
            </a:pPr>
            <a:r>
              <a:rPr sz="1200" b="0" i="0">
                <a:solidFill>
                  <a:srgbClr val="6F706D"/>
                </a:solidFill>
              </a:rPr>
              <a:t>场景同时携带人物、故事、情绪、镜头、光照、Prompt 与推荐 LoRA。</a:t>
            </a:r>
          </a:p>
        </p:txBody>
      </p:sp>
    </p:spTree>
    <p:extLst>
      <p:ext uri="{BB962C8B-B14F-4D97-AF65-F5344CB8AC3E}">
        <p14:creationId xmlns:p14="http://schemas.microsoft.com/office/powerpoint/2010/main" val="120413590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EAE5D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914371E-134F-429E-BACE-E88E94890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46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771579-1F97-4586-8BA5-CCA4B05F2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619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B6462D"/>
                </a:solidFill>
              </a:defRPr>
            </a:pPr>
            <a:r>
              <a:rPr sz="1200" b="1" i="0">
                <a:solidFill>
                  <a:srgbClr val="B6462D"/>
                </a:solidFill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E5EFD2-56F7-4ACF-9BD8-B2F42122A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71475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6F706D"/>
                </a:solidFill>
              </a:defRPr>
            </a:pPr>
            <a:r>
              <a:rPr sz="1050" b="1" i="0">
                <a:solidFill>
                  <a:srgbClr val="6F706D"/>
                </a:solidFill>
              </a:rPr>
              <a:t>DIRECTOR / PROMPT INTELLIGENCE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AA6D80-8043-4452-978F-925B614F9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7191A"/>
                </a:solidFill>
              </a:defRPr>
            </a:pPr>
            <a:r>
              <a:rPr sz="2850" b="1" i="0">
                <a:solidFill>
                  <a:srgbClr val="17191A"/>
                </a:solidFill>
              </a:rPr>
              <a:t>绘制台在“少做决定”和“完整可控”之间切换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F20DC4-F9B1-41A7-85CA-15CD5A5DA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431D22-CEE6-4E7D-AF82-97E635200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8115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F706D"/>
                </a:solidFill>
              </a:defRPr>
            </a:pPr>
            <a:r>
              <a:rPr sz="1350" b="0" i="0">
                <a:solidFill>
                  <a:srgbClr val="6F706D"/>
                </a:solidFill>
              </a:rPr>
              <a:t>场景模式自动推断镜头、构图和光照；专家模式开放完整 Prompt 结构与大型选项区。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926FAA-FC7D-4A3D-80AA-44CED06BA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643890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6F706D"/>
                </a:solidFill>
              </a:defRPr>
            </a:pPr>
            <a:r>
              <a:rPr sz="825" b="0" i="0">
                <a:solidFill>
                  <a:srgbClr val="6F706D"/>
                </a:solidFill>
              </a:rPr>
              <a:t>AI-CG-STUDIO / FIELD RECORD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CB3E7B-B91A-47BA-A27E-24479247E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1952625"/>
            <a:ext cx="4914900" cy="419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A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bdf79af3ec4335"/>
          <a:srcRect xmlns:a="http://schemas.openxmlformats.org/drawingml/2006/main" l="0" t="12038" r="0" b="1203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05550" y="2038350"/>
            <a:ext cx="4743450" cy="4019550"/>
          </a:xfrm>
          <a:prstGeom xmlns:a="http://schemas.openxmlformats.org/drawingml/2006/main" prst="roundRect">
            <a:avLst>
              <a:gd name="adj" fmla="val 474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9ECFEC-2EF8-43CF-A707-C0E528A11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65785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46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996252-B94A-4380-A6DE-F451D87AB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705475"/>
            <a:ext cx="219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F7F3E9"/>
                </a:solidFill>
              </a:defRPr>
            </a:pPr>
            <a:r>
              <a:rPr sz="900" b="1" i="0">
                <a:solidFill>
                  <a:srgbClr val="F7F3E9"/>
                </a:solidFill>
              </a:rPr>
              <a:t>DIRECTOR / PROMPT BUILDER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85BC05-E55D-4990-87F4-014A0BA70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4790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B6462D"/>
                </a:solidFill>
              </a:defRPr>
            </a:pPr>
            <a:r>
              <a:rPr sz="1050" b="1" i="0">
                <a:solidFill>
                  <a:srgbClr val="B6462D"/>
                </a:solidFill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C6CDB3-29EB-4608-8617-102409F6F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28850"/>
            <a:ext cx="4533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7191A"/>
                </a:solidFill>
              </a:defRPr>
            </a:pPr>
            <a:r>
              <a:rPr sz="1650" b="1" i="0">
                <a:solidFill>
                  <a:srgbClr val="17191A"/>
                </a:solidFill>
              </a:rPr>
              <a:t>场景模式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2022A9-D52B-423B-BA24-C63A3EF59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571750"/>
            <a:ext cx="4533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F706D"/>
                </a:solidFill>
              </a:defRPr>
            </a:pPr>
            <a:r>
              <a:rPr sz="1200" b="0" i="0">
                <a:solidFill>
                  <a:srgbClr val="6F706D"/>
                </a:solidFill>
              </a:rPr>
              <a:t>紧凑、低认知负担；出图参数默认折叠，但生成、队列与配音始终可见。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7AE0C7-CA47-422A-AD4A-CC87165B6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8615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B6462D"/>
                </a:solidFill>
              </a:defRPr>
            </a:pPr>
            <a:r>
              <a:rPr sz="1050" b="1" i="0">
                <a:solidFill>
                  <a:srgbClr val="B6462D"/>
                </a:solidFill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EC9DFA-C87F-4198-92E9-278D66370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67100"/>
            <a:ext cx="4533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7191A"/>
                </a:solidFill>
              </a:defRPr>
            </a:pPr>
            <a:r>
              <a:rPr sz="1650" b="1" i="0">
                <a:solidFill>
                  <a:srgbClr val="17191A"/>
                </a:solidFill>
              </a:rPr>
              <a:t>专家模式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84B6A3-6B84-43CD-BEC6-D2C5ACC7C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10000"/>
            <a:ext cx="4533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F706D"/>
                </a:solidFill>
              </a:defRPr>
            </a:pPr>
            <a:r>
              <a:rPr sz="1200" b="0" i="0">
                <a:solidFill>
                  <a:srgbClr val="6F706D"/>
                </a:solidFill>
              </a:rPr>
              <a:t>开放角色特征、词条、正负 Prompt、模型 Profile、LoRA 权重与结构健康报告。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06B40D-5118-4822-9EEB-6193065B8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2440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B6462D"/>
                </a:solidFill>
              </a:defRPr>
            </a:pPr>
            <a:r>
              <a:rPr sz="1050" b="1" i="0">
                <a:solidFill>
                  <a:srgbClr val="B6462D"/>
                </a:solidFill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D4D15B-646F-4285-A48C-1120B87F0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05350"/>
            <a:ext cx="4533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7191A"/>
                </a:solidFill>
              </a:defRPr>
            </a:pPr>
            <a:r>
              <a:rPr sz="1650" b="1" i="0">
                <a:solidFill>
                  <a:srgbClr val="17191A"/>
                </a:solidFill>
              </a:rPr>
              <a:t>可靠生成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03736A0-31B0-4402-A24F-C82F842D2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048250"/>
            <a:ext cx="4533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F706D"/>
                </a:solidFill>
              </a:defRPr>
            </a:pPr>
            <a:r>
              <a:rPr sz="1200" b="0" i="0">
                <a:solidFill>
                  <a:srgbClr val="6F706D"/>
                </a:solidFill>
              </a:rPr>
              <a:t>固定 seed、hires.fix、顺序队列、进度与中断；失败按类型给出恢复动作。</a:t>
            </a:r>
          </a:p>
        </p:txBody>
      </p:sp>
    </p:spTree>
    <p:extLst>
      <p:ext uri="{BB962C8B-B14F-4D97-AF65-F5344CB8AC3E}">
        <p14:creationId xmlns:p14="http://schemas.microsoft.com/office/powerpoint/2010/main" val="8552161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EAE5D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2956066-2567-41B5-9DE8-12EACA907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0BF972-A711-48FA-A738-406514928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619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B6462D"/>
                </a:solidFill>
              </a:defRPr>
            </a:pPr>
            <a:r>
              <a:rPr sz="1200" b="1" i="0">
                <a:solidFill>
                  <a:srgbClr val="B6462D"/>
                </a:solidFill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F5EF7B-1772-4F81-825A-87E2AE392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71475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6F706D"/>
                </a:solidFill>
              </a:defRPr>
            </a:pPr>
            <a:r>
              <a:rPr sz="1050" b="1" i="0">
                <a:solidFill>
                  <a:srgbClr val="6F706D"/>
                </a:solidFill>
              </a:rPr>
              <a:t>GENERATION / SD ORCHESTRATION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A04308-2124-41EE-97E5-BE94AE449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7191A"/>
                </a:solidFill>
              </a:defRPr>
            </a:pPr>
            <a:r>
              <a:rPr sz="2850" b="1" i="0">
                <a:solidFill>
                  <a:srgbClr val="17191A"/>
                </a:solidFill>
              </a:rPr>
              <a:t>生成引擎把模型发现、双人构图与故障恢复藏在同一条链路里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3215D6-7CB2-4841-BFB2-E57CDA50D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F1C4A7-F9EB-4D30-89F0-0F705ACBE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8115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F706D"/>
                </a:solidFill>
              </a:defRPr>
            </a:pPr>
            <a:r>
              <a:rPr sz="1350" b="0" i="0">
                <a:solidFill>
                  <a:srgbClr val="6F706D"/>
                </a:solidFill>
              </a:rPr>
              <a:t>兼容 AUTOMATIC1111、Forge 与 ReForge；单人保持基线，双人才按配置启用增强。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2D7140-3C6B-45DF-9CE0-841FB8F49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643890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6F706D"/>
                </a:solidFill>
              </a:defRPr>
            </a:pPr>
            <a:r>
              <a:rPr sz="825" b="0" i="0">
                <a:solidFill>
                  <a:srgbClr val="6F706D"/>
                </a:solidFill>
              </a:rPr>
              <a:t>AI-CG-STUDIO / FIELD RECORD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5D6C8F-2AC7-4EE8-9AD9-1004F3E9D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10820400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9633AA-E984-42CB-983E-EAF87ED93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5270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B6462D"/>
                </a:solidFill>
              </a:defRPr>
            </a:pPr>
            <a:r>
              <a:rPr sz="1200" b="1" i="0">
                <a:solidFill>
                  <a:srgbClr val="B6462D"/>
                </a:solidFill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356DFB-B681-48A7-9103-CB2FEEB4B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14650"/>
            <a:ext cx="2000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46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FA4DAE-A4D3-447C-A442-F155BEA12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14325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7F3E9"/>
                </a:solidFill>
              </a:defRPr>
            </a:pPr>
            <a:r>
              <a:rPr sz="1350" b="1" i="0">
                <a:solidFill>
                  <a:srgbClr val="F7F3E9"/>
                </a:solidFill>
              </a:rPr>
              <a:t>MODEL DISCOVERY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DBC50A-E7B0-425C-9524-8F934F3B0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38550"/>
            <a:ext cx="21336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D8D1C3"/>
                </a:solidFill>
              </a:defRPr>
            </a:pPr>
            <a:r>
              <a:rPr sz="1275" b="0" i="0">
                <a:solidFill>
                  <a:srgbClr val="D8D1C3"/>
                </a:solidFill>
              </a:rPr>
              <a:t>自动发现 checkpoint 与 sampler</a:t>
            </a:r>
          </a:p>
          <a:p xmlns:a="http://schemas.openxmlformats.org/drawingml/2006/main">
            <a:pPr algn="l">
              <a:defRPr sz="1275" b="0" i="0">
                <a:solidFill>
                  <a:srgbClr val="D8D1C3"/>
                </a:solidFill>
              </a:defRPr>
            </a:pPr>
            <a:r>
              <a:rPr sz="1275" b="0" i="0">
                <a:solidFill>
                  <a:srgbClr val="D8D1C3"/>
                </a:solidFill>
              </a:rPr>
              <a:t>模型名称不靠供应商猜测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39E1C7-29A6-40B4-ACF9-9BA3C9991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55270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4E8690"/>
                </a:solidFill>
              </a:defRPr>
            </a:pPr>
            <a:r>
              <a:rPr sz="1200" b="1" i="0">
                <a:solidFill>
                  <a:srgbClr val="4E8690"/>
                </a:solidFill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D28EB3-FC4D-4B66-BE25-D2CB72DB6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914650"/>
            <a:ext cx="2000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86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5C1873-1D2C-418D-A694-64CC83A99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14325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7F3E9"/>
                </a:solidFill>
              </a:defRPr>
            </a:pPr>
            <a:r>
              <a:rPr sz="1350" b="1" i="0">
                <a:solidFill>
                  <a:srgbClr val="F7F3E9"/>
                </a:solidFill>
              </a:rPr>
              <a:t>DUAL COMPOSITION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EB4002-E003-4483-85D8-4A76CCF1D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638550"/>
            <a:ext cx="21336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D8D1C3"/>
                </a:solidFill>
              </a:defRPr>
            </a:pPr>
            <a:r>
              <a:rPr sz="1275" b="0" i="0">
                <a:solidFill>
                  <a:srgbClr val="D8D1C3"/>
                </a:solidFill>
              </a:rPr>
              <a:t>Regional Prompter 分离角色</a:t>
            </a:r>
          </a:p>
          <a:p xmlns:a="http://schemas.openxmlformats.org/drawingml/2006/main">
            <a:pPr algn="l">
              <a:defRPr sz="1275" b="0" i="0">
                <a:solidFill>
                  <a:srgbClr val="D8D1C3"/>
                </a:solidFill>
              </a:defRPr>
            </a:pPr>
            <a:r>
              <a:rPr sz="1275" b="0" i="0">
                <a:solidFill>
                  <a:srgbClr val="D8D1C3"/>
                </a:solidFill>
              </a:rPr>
              <a:t>OpenPose 稳定人物站位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AE71C0-33A2-490A-A0BC-5F05BF85F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55270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B6462D"/>
                </a:solidFill>
              </a:defRPr>
            </a:pPr>
            <a:r>
              <a:rPr sz="1200" b="1" i="0">
                <a:solidFill>
                  <a:srgbClr val="B6462D"/>
                </a:solidFill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52BCDC-4E9F-445A-AA0A-F3B7F802D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914650"/>
            <a:ext cx="2000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46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BC4154-3C62-45B2-A2C6-229C96970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4325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7F3E9"/>
                </a:solidFill>
              </a:defRPr>
            </a:pPr>
            <a:r>
              <a:rPr sz="1350" b="1" i="0">
                <a:solidFill>
                  <a:srgbClr val="F7F3E9"/>
                </a:solidFill>
              </a:rPr>
              <a:t>CONSERVATIVE REPAIR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1B23101-E234-4034-B08C-0AB03B6AB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38550"/>
            <a:ext cx="21336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D8D1C3"/>
                </a:solidFill>
              </a:defRPr>
            </a:pPr>
            <a:r>
              <a:rPr sz="1275" b="0" i="0">
                <a:solidFill>
                  <a:srgbClr val="D8D1C3"/>
                </a:solidFill>
              </a:rPr>
              <a:t>ADetailer 只修远处双人脸</a:t>
            </a:r>
          </a:p>
          <a:p xmlns:a="http://schemas.openxmlformats.org/drawingml/2006/main">
            <a:pPr algn="l">
              <a:defRPr sz="1275" b="0" i="0">
                <a:solidFill>
                  <a:srgbClr val="D8D1C3"/>
                </a:solidFill>
              </a:defRPr>
            </a:pPr>
            <a:r>
              <a:rPr sz="1275" b="0" i="0">
                <a:solidFill>
                  <a:srgbClr val="D8D1C3"/>
                </a:solidFill>
              </a:rPr>
              <a:t>避免改变单人审计基线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178668A-42E1-462B-9493-C24475476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55270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4E8690"/>
                </a:solidFill>
              </a:defRPr>
            </a:pPr>
            <a:r>
              <a:rPr sz="1200" b="1" i="0">
                <a:solidFill>
                  <a:srgbClr val="4E8690"/>
                </a:solidFill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E6C173F-E8AA-4B99-8C12-1375F58EA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914650"/>
            <a:ext cx="2000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86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A2927C0-F3A3-4B5B-A9B1-E769FA4F9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14325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7F3E9"/>
                </a:solidFill>
              </a:defRPr>
            </a:pPr>
            <a:r>
              <a:rPr sz="1350" b="1" i="0">
                <a:solidFill>
                  <a:srgbClr val="F7F3E9"/>
                </a:solidFill>
              </a:rPr>
              <a:t>RECOVERY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2F0185C-FC3D-4CAA-A4D8-9FE3EDF99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638550"/>
            <a:ext cx="21336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D8D1C3"/>
                </a:solidFill>
              </a:defRPr>
            </a:pPr>
            <a:r>
              <a:rPr sz="1275" b="0" i="0">
                <a:solidFill>
                  <a:srgbClr val="D8D1C3"/>
                </a:solidFill>
              </a:rPr>
              <a:t>统一错误信封与分类策略</a:t>
            </a:r>
          </a:p>
          <a:p xmlns:a="http://schemas.openxmlformats.org/drawingml/2006/main">
            <a:pPr algn="l">
              <a:defRPr sz="1275" b="0" i="0">
                <a:solidFill>
                  <a:srgbClr val="D8D1C3"/>
                </a:solidFill>
              </a:defRPr>
            </a:pPr>
            <a:r>
              <a:rPr sz="1275" b="0" i="0">
                <a:solidFill>
                  <a:srgbClr val="D8D1C3"/>
                </a:solidFill>
              </a:rPr>
              <a:t>队列可中断、可继续、可重试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CFEB47B-853A-4AC2-8097-C54C8CF9D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482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B6462D"/>
                </a:solidFill>
              </a:defRPr>
            </a:pPr>
            <a:r>
              <a:rPr sz="900" b="1" i="0">
                <a:solidFill>
                  <a:srgbClr val="B6462D"/>
                </a:solidFill>
              </a:rPr>
              <a:t>ENGINE NOTE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61B1719-A572-4E12-A0D0-EE35DC0BC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010150"/>
            <a:ext cx="800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7F3E9"/>
                </a:solidFill>
              </a:defRPr>
            </a:pPr>
            <a:r>
              <a:rPr sz="1350" b="1" i="0">
                <a:solidFill>
                  <a:srgbClr val="F7F3E9"/>
                </a:solidFill>
              </a:rPr>
              <a:t>Prompt 组装只负责派生策略；场景/UI、SD 队列、历史与生命周期保持清晰所有权。</a:t>
            </a:r>
          </a:p>
        </p:txBody>
      </p:sp>
    </p:spTree>
    <p:extLst>
      <p:ext uri="{BB962C8B-B14F-4D97-AF65-F5344CB8AC3E}">
        <p14:creationId xmlns:p14="http://schemas.microsoft.com/office/powerpoint/2010/main" val="8138919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EAE5D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5733AE6-C423-4750-A100-A03A1CE31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46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C9DF15-2055-44D0-93D9-6B0D744A9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619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B6462D"/>
                </a:solidFill>
              </a:defRPr>
            </a:pPr>
            <a:r>
              <a:rPr sz="1200" b="1" i="0">
                <a:solidFill>
                  <a:srgbClr val="B6462D"/>
                </a:solidFill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142D09-947C-4D23-B157-C4ECCC660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71475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6F706D"/>
                </a:solidFill>
              </a:defRPr>
            </a:pPr>
            <a:r>
              <a:rPr sz="1050" b="1" i="0">
                <a:solidFill>
                  <a:srgbClr val="6F706D"/>
                </a:solidFill>
              </a:rPr>
              <a:t>CHARACTER ROOM / PRESENCE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23002E-7012-45A2-86AA-200622284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7191A"/>
                </a:solidFill>
              </a:defRPr>
            </a:pPr>
            <a:r>
              <a:rPr sz="2850" b="1" i="0">
                <a:solidFill>
                  <a:srgbClr val="17191A"/>
                </a:solidFill>
              </a:rPr>
              <a:t>角色房间让对话、声音与舞台互动在本机形成连续体验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709A4C-1D1E-4773-AF52-D8A43CE62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846EBE-373E-4757-AAEA-9BC989F80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8115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F706D"/>
                </a:solidFill>
              </a:defRPr>
            </a:pPr>
            <a:r>
              <a:rPr sz="1350" b="0" i="0">
                <a:solidFill>
                  <a:srgbClr val="6F706D"/>
                </a:solidFill>
              </a:rPr>
              <a:t>支持 Ollama 与 OpenAI-compatible API；模型可发现或手动配置，不绑定供应商命名。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907914-BD8C-42EB-8CD5-2A11A2AD6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643890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6F706D"/>
                </a:solidFill>
              </a:defRPr>
            </a:pPr>
            <a:r>
              <a:rPr sz="825" b="0" i="0">
                <a:solidFill>
                  <a:srgbClr val="6F706D"/>
                </a:solidFill>
              </a:rPr>
              <a:t>AI-CG-STUDIO / FIELD RECORD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915A80-4430-43E1-BE0A-600BE0ECA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028825"/>
            <a:ext cx="5562600" cy="411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A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8bbac3e878412b"/>
          <a:srcRect xmlns:a="http://schemas.openxmlformats.org/drawingml/2006/main" l="0" t="17232" r="0" b="1723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3900" y="2114550"/>
            <a:ext cx="5391150" cy="3943350"/>
          </a:xfrm>
          <a:prstGeom xmlns:a="http://schemas.openxmlformats.org/drawingml/2006/main" prst="roundRect">
            <a:avLst>
              <a:gd name="adj" fmla="val 483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73F9E8-C83D-4E49-A395-64CA5C9B8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65785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46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92B43E-A775-4AFD-8D4D-B06B10DC3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705475"/>
            <a:ext cx="219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F7F3E9"/>
                </a:solidFill>
              </a:defRPr>
            </a:pPr>
            <a:r>
              <a:rPr sz="900" b="1" i="0">
                <a:solidFill>
                  <a:srgbClr val="F7F3E9"/>
                </a:solidFill>
              </a:rPr>
              <a:t>CHARACTER ROOM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59A4AD-268E-4DDF-9CDA-EB416D474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26695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B6462D"/>
                </a:solidFill>
              </a:defRPr>
            </a:pPr>
            <a:r>
              <a:rPr sz="1050" b="1" i="0">
                <a:solidFill>
                  <a:srgbClr val="B6462D"/>
                </a:solidFill>
              </a:rPr>
              <a:t>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FAADD0-BE8A-4289-808F-455ED7820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247900"/>
            <a:ext cx="3867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7191A"/>
                </a:solidFill>
              </a:defRPr>
            </a:pPr>
            <a:r>
              <a:rPr sz="1650" b="1" i="0">
                <a:solidFill>
                  <a:srgbClr val="17191A"/>
                </a:solidFill>
              </a:rPr>
              <a:t>双通道对话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8ECE53-C5EA-41D6-9E5B-710EEAD9F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590800"/>
            <a:ext cx="38671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F706D"/>
                </a:solidFill>
              </a:defRPr>
            </a:pPr>
            <a:r>
              <a:rPr sz="1200" b="0" i="0">
                <a:solidFill>
                  <a:srgbClr val="6F706D"/>
                </a:solidFill>
              </a:rPr>
              <a:t>本地 Ollama 与 DeepSeek、OpenCode、自定义兼容端点可切换；会话与草稿本地持久化。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576661-6736-4C3A-8863-376E000CE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48615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B6462D"/>
                </a:solidFill>
              </a:defRPr>
            </a:pPr>
            <a:r>
              <a:rPr sz="1050" b="1" i="0">
                <a:solidFill>
                  <a:srgbClr val="B6462D"/>
                </a:solidFill>
              </a:rPr>
              <a:t>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624594-FC41-4BBE-A5BD-EC1F7DB1B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467100"/>
            <a:ext cx="3867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7191A"/>
                </a:solidFill>
              </a:defRPr>
            </a:pPr>
            <a:r>
              <a:rPr sz="1650" b="1" i="0">
                <a:solidFill>
                  <a:srgbClr val="17191A"/>
                </a:solidFill>
              </a:rPr>
              <a:t>按需 Live2D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37E0A5-ECB5-4F8D-95F0-F33270B8B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810000"/>
            <a:ext cx="38671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F706D"/>
                </a:solidFill>
              </a:defRPr>
            </a:pPr>
            <a:r>
              <a:rPr sz="1200" b="0" i="0">
                <a:solidFill>
                  <a:srgbClr val="6F706D"/>
                </a:solidFill>
              </a:rPr>
              <a:t>用户显式启用前不下载大贴图；原生动作、点击分区、动作优先级与状态反馈完整管理。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353D8DA-CD70-4836-A878-09D18F604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70535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B6462D"/>
                </a:solidFill>
              </a:defRPr>
            </a:pPr>
            <a:r>
              <a:rPr sz="1050" b="1" i="0">
                <a:solidFill>
                  <a:srgbClr val="B6462D"/>
                </a:solidFill>
              </a:rPr>
              <a:t>C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05C55C-5A32-4B5C-AD2D-349C8EB40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686300"/>
            <a:ext cx="3867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7191A"/>
                </a:solidFill>
              </a:defRPr>
            </a:pPr>
            <a:r>
              <a:rPr sz="1650" b="1" i="0">
                <a:solidFill>
                  <a:srgbClr val="17191A"/>
                </a:solidFill>
              </a:rPr>
              <a:t>显式换装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668746-62EB-43FF-AC66-CB79D1FAB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5029200"/>
            <a:ext cx="38671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F706D"/>
                </a:solidFill>
              </a:defRPr>
            </a:pPr>
            <a:r>
              <a:rPr sz="1200" b="0" i="0">
                <a:solidFill>
                  <a:srgbClr val="6F706D"/>
                </a:solidFill>
              </a:rPr>
              <a:t>宁宁五套模型原生服装由独立控件切换并持久化；聊天与 TTS 情绪不会误触换装。</a:t>
            </a:r>
          </a:p>
        </p:txBody>
      </p:sp>
    </p:spTree>
    <p:extLst>
      <p:ext uri="{BB962C8B-B14F-4D97-AF65-F5344CB8AC3E}">
        <p14:creationId xmlns:p14="http://schemas.microsoft.com/office/powerpoint/2010/main" val="100588632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EAE5D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C341E9A-C437-49BD-AA23-2F3660F75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EFE333-41A4-49DE-9BC5-263A2EDF5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619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B6462D"/>
                </a:solidFill>
              </a:defRPr>
            </a:pPr>
            <a:r>
              <a:rPr sz="1200" b="1" i="0">
                <a:solidFill>
                  <a:srgbClr val="B6462D"/>
                </a:solidFill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309C70-7FB9-4C26-80F7-C2DB2DA57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71475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6F706D"/>
                </a:solidFill>
              </a:defRPr>
            </a:pPr>
            <a:r>
              <a:rPr sz="1050" b="1" i="0">
                <a:solidFill>
                  <a:srgbClr val="6F706D"/>
                </a:solidFill>
              </a:rPr>
              <a:t>VOICE / SENTENCE PIPELINE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ABD2CC-A5C5-4D1E-8C66-9A85D78B2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7191A"/>
                </a:solidFill>
              </a:defRPr>
            </a:pPr>
            <a:r>
              <a:rPr sz="2850" b="1" i="0">
                <a:solidFill>
                  <a:srgbClr val="17191A"/>
                </a:solidFill>
              </a:rPr>
              <a:t>配音不是附属按钮，而是一条有节奏、有失败明细的逐句管线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4B9125-BF7E-418B-B9B6-C88237F39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FE0D25-6C47-4E29-BF23-66EC45C97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8115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F706D"/>
                </a:solidFill>
              </a:defRPr>
            </a:pPr>
            <a:r>
              <a:rPr sz="1350" b="0" i="0">
                <a:solidFill>
                  <a:srgbClr val="6F706D"/>
                </a:solidFill>
              </a:rPr>
              <a:t>文本先剥离舞台提示，再翻译与合成；声音驱动口型，提示文本继续参与情绪推断。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195672-C645-4F19-B721-9FF7391E3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643890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6F706D"/>
                </a:solidFill>
              </a:defRPr>
            </a:pPr>
            <a:r>
              <a:rPr sz="825" b="0" i="0">
                <a:solidFill>
                  <a:srgbClr val="6F706D"/>
                </a:solidFill>
              </a:rPr>
              <a:t>AI-CG-STUDIO / FIELD RECORD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CADDAE-70A1-4387-BEEC-172DECA18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10820400" cy="3295650"/>
          </a:xfrm>
          <a:prstGeom xmlns:a="http://schemas.openxmlformats.org/drawingml/2006/main" prst="roundRect">
            <a:avLst>
              <a:gd name="adj" fmla="val 578"/>
            </a:avLst>
          </a:prstGeom>
          <a:solidFill xmlns:a="http://schemas.openxmlformats.org/drawingml/2006/main">
            <a:srgbClr val="F7F3E9"/>
          </a:solidFill>
          <a:ln xmlns:a="http://schemas.openxmlformats.org/drawingml/2006/main" w="9525">
            <a:solidFill>
              <a:srgbClr val="17191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F983DE-226D-493A-B37E-6CC93D188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2412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B6462D"/>
                </a:solidFill>
              </a:defRPr>
            </a:pPr>
            <a:r>
              <a:rPr sz="1125" b="1" i="0">
                <a:solidFill>
                  <a:srgbClr val="B6462D"/>
                </a:solidFill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338FF1-9CB6-4B83-93F7-8CA02DF77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14650"/>
            <a:ext cx="1695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7191A"/>
                </a:solidFill>
              </a:defRPr>
            </a:pPr>
            <a:r>
              <a:rPr sz="1575" b="1" i="0">
                <a:solidFill>
                  <a:srgbClr val="17191A"/>
                </a:solidFill>
              </a:rPr>
              <a:t>流式回复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D4AA8E-342C-4E83-AC6A-D4B20BBAD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71850"/>
            <a:ext cx="1714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F706D"/>
                </a:solidFill>
              </a:defRPr>
            </a:pPr>
            <a:r>
              <a:rPr sz="1200" b="0" i="0">
                <a:solidFill>
                  <a:srgbClr val="6F706D"/>
                </a:solidFill>
              </a:rPr>
              <a:t>把长回复按可播句子切分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E69C8A-C124-4AA9-870D-CD9CC9263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52412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4E8690"/>
                </a:solidFill>
              </a:defRPr>
            </a:pPr>
            <a:r>
              <a:rPr sz="1125" b="1" i="0">
                <a:solidFill>
                  <a:srgbClr val="4E8690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B7A6E3-5927-4DD8-BE24-610D4C8F4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914650"/>
            <a:ext cx="1695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7191A"/>
                </a:solidFill>
              </a:defRPr>
            </a:pPr>
            <a:r>
              <a:rPr sz="1575" b="1" i="0">
                <a:solidFill>
                  <a:srgbClr val="17191A"/>
                </a:solidFill>
              </a:rPr>
              <a:t>文本净化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23FBB7-B7F1-4218-B54B-C8FF4E3DE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371850"/>
            <a:ext cx="1714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F706D"/>
                </a:solidFill>
              </a:defRPr>
            </a:pPr>
            <a:r>
              <a:rPr sz="1200" b="0" i="0">
                <a:solidFill>
                  <a:srgbClr val="6F706D"/>
                </a:solidFill>
              </a:rPr>
              <a:t>舞台提示不进入翻译与 TTS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B19581-C28E-4609-AB2B-7596FF502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52412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B6462D"/>
                </a:solidFill>
              </a:defRPr>
            </a:pPr>
            <a:r>
              <a:rPr sz="1125" b="1" i="0">
                <a:solidFill>
                  <a:srgbClr val="B6462D"/>
                </a:solidFill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23EC47-3E7D-46CE-A5F1-8D880B6BE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914650"/>
            <a:ext cx="1695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7191A"/>
                </a:solidFill>
              </a:defRPr>
            </a:pPr>
            <a:r>
              <a:rPr sz="1575" b="1" i="0">
                <a:solidFill>
                  <a:srgbClr val="17191A"/>
                </a:solidFill>
              </a:rPr>
              <a:t>翻译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66A80A-BBE2-41B6-BEC9-127CF9707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371850"/>
            <a:ext cx="1714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F706D"/>
                </a:solidFill>
              </a:defRPr>
            </a:pPr>
            <a:r>
              <a:rPr sz="1200" b="0" i="0">
                <a:solidFill>
                  <a:srgbClr val="6F706D"/>
                </a:solidFill>
              </a:rPr>
              <a:t>中文阅读文本与日/中文声线分离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D32663-194D-4CEF-8D21-109E60417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52412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4E8690"/>
                </a:solidFill>
              </a:defRPr>
            </a:pPr>
            <a:r>
              <a:rPr sz="1125" b="1" i="0">
                <a:solidFill>
                  <a:srgbClr val="4E8690"/>
                </a:solidFill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E4B66E-9A9D-4CD6-A820-DFF2E1497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914650"/>
            <a:ext cx="1695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7191A"/>
                </a:solidFill>
              </a:defRPr>
            </a:pPr>
            <a:r>
              <a:rPr sz="1575" b="1" i="0">
                <a:solidFill>
                  <a:srgbClr val="17191A"/>
                </a:solidFill>
              </a:rPr>
              <a:t>合成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E135F89-A217-48A2-863B-8646252C2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371850"/>
            <a:ext cx="1714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F706D"/>
                </a:solidFill>
              </a:defRPr>
            </a:pPr>
            <a:r>
              <a:rPr sz="1200" b="0" i="0">
                <a:solidFill>
                  <a:srgbClr val="6F706D"/>
                </a:solidFill>
              </a:rPr>
              <a:t>有限超时、有限重试、避免重复提交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651C2C2-B581-4A53-9838-8C132AACB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52412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B6462D"/>
                </a:solidFill>
              </a:defRPr>
            </a:pPr>
            <a:r>
              <a:rPr sz="1125" b="1" i="0">
                <a:solidFill>
                  <a:srgbClr val="B6462D"/>
                </a:solidFill>
              </a:rPr>
              <a:t>05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F3E3FDB-6D20-40BC-8C41-669A21498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914650"/>
            <a:ext cx="1695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7191A"/>
                </a:solidFill>
              </a:defRPr>
            </a:pPr>
            <a:r>
              <a:rPr sz="1575" b="1" i="0">
                <a:solidFill>
                  <a:srgbClr val="17191A"/>
                </a:solidFill>
              </a:rPr>
              <a:t>驱动舞台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AB3A582-5448-4C40-ACBA-C964C111E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371850"/>
            <a:ext cx="1714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F706D"/>
                </a:solidFill>
              </a:defRPr>
            </a:pPr>
            <a:r>
              <a:rPr sz="1200" b="0" i="0">
                <a:solidFill>
                  <a:srgbClr val="6F706D"/>
                </a:solidFill>
              </a:rPr>
              <a:t>真实音频振幅驱动 Live2D 口型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975136A-BDDD-4A28-8E13-78D07A1B9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57700"/>
            <a:ext cx="10134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A353587-320B-4DFC-8307-EE26F484B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244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B6462D"/>
                </a:solidFill>
              </a:defRPr>
            </a:pPr>
            <a:r>
              <a:rPr sz="900" b="1" i="0">
                <a:solidFill>
                  <a:srgbClr val="B6462D"/>
                </a:solidFill>
              </a:rPr>
              <a:t>VOICE PROFILES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0816814-BCD4-452B-89CF-E98222CD4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686300"/>
            <a:ext cx="581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7191A"/>
                </a:solidFill>
              </a:defRPr>
            </a:pPr>
            <a:r>
              <a:rPr sz="1650" b="1" i="0">
                <a:solidFill>
                  <a:srgbClr val="17191A"/>
                </a:solidFill>
              </a:rPr>
              <a:t>平静 · 温柔 · 开心 · 害羞 · 认真 · 难过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38531B2-7475-486D-86F8-28E52374C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50482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F706D"/>
                </a:solidFill>
              </a:defRPr>
            </a:pPr>
            <a:r>
              <a:rPr sz="1200" b="0" i="0">
                <a:solidFill>
                  <a:srgbClr val="6F706D"/>
                </a:solidFill>
              </a:rPr>
              <a:t>日语按场景选择参考声线；中文保留稳定中性参考。</a:t>
            </a:r>
          </a:p>
        </p:txBody>
      </p:sp>
    </p:spTree>
    <p:extLst>
      <p:ext uri="{BB962C8B-B14F-4D97-AF65-F5344CB8AC3E}">
        <p14:creationId xmlns:p14="http://schemas.microsoft.com/office/powerpoint/2010/main" val="84537858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EAE5D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5CB7FC0-DF2A-49A6-B858-87F540CB5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46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D4AA30-2E15-4288-BD6D-5AE06CC51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619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B6462D"/>
                </a:solidFill>
              </a:defRPr>
            </a:pPr>
            <a:r>
              <a:rPr sz="1200" b="1" i="0">
                <a:solidFill>
                  <a:srgbClr val="B6462D"/>
                </a:solidFill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5815E7-7A39-43D6-97E1-3CEF90E04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71475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6F706D"/>
                </a:solidFill>
              </a:defRPr>
            </a:pPr>
            <a:r>
              <a:rPr sz="1050" b="1" i="0">
                <a:solidFill>
                  <a:srgbClr val="6F706D"/>
                </a:solidFill>
              </a:rPr>
              <a:t>REVIEW / MEMORY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0CE07A-0BBD-43DE-AD2D-0F6B99886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7191A"/>
                </a:solidFill>
              </a:defRPr>
            </a:pPr>
            <a:r>
              <a:rPr sz="2850" b="1" i="0">
                <a:solidFill>
                  <a:srgbClr val="17191A"/>
                </a:solidFill>
              </a:rPr>
              <a:t>真实样张负责证明效果，作品册负责保留每一次创作上下文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FF30A5-F383-45DC-BF08-3D2F6E68D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EF998B-7B47-44B4-B11C-E4BCAFA57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8115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F706D"/>
                </a:solidFill>
              </a:defRPr>
            </a:pPr>
            <a:r>
              <a:rPr sz="1350" b="0" i="0">
                <a:solidFill>
                  <a:srgbClr val="6F706D"/>
                </a:solidFill>
              </a:rPr>
              <a:t>展示集是逐张审核后的成图；个人作品与历史保留评分、收藏、备注、项目和生成参数。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0FB236-CC10-443D-B38F-BA152D29F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643890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6F706D"/>
                </a:solidFill>
              </a:defRPr>
            </a:pPr>
            <a:r>
              <a:rPr sz="825" b="0" i="0">
                <a:solidFill>
                  <a:srgbClr val="6F706D"/>
                </a:solidFill>
              </a:rPr>
              <a:t>AI-CG-STUDIO / FIELD RECORD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6C980E-71EC-466A-8D6A-ABBCAE8D1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143125"/>
            <a:ext cx="5124450" cy="3505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A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61bed66e9c4939"/>
          <a:srcRect xmlns:a="http://schemas.openxmlformats.org/drawingml/2006/main" l="0" t="19847" r="0" b="1984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2228850"/>
            <a:ext cx="4953000" cy="3333750"/>
          </a:xfrm>
          <a:prstGeom xmlns:a="http://schemas.openxmlformats.org/drawingml/2006/main" prst="roundRect">
            <a:avLst>
              <a:gd name="adj" fmla="val 571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681B4E-7495-49AE-96C9-AE416073C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6255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46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4F1DB5-419A-40CB-8DA3-881D2EA2C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10175"/>
            <a:ext cx="219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F7F3E9"/>
                </a:solidFill>
              </a:defRPr>
            </a:pPr>
            <a:r>
              <a:rPr sz="900" b="1" i="0">
                <a:solidFill>
                  <a:srgbClr val="F7F3E9"/>
                </a:solidFill>
              </a:rPr>
              <a:t>REVIEWED SHOWCASE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DA0CDF-3D79-4072-BFFC-49B91361F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143125"/>
            <a:ext cx="4781550" cy="3505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A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c032a39f064823"/>
          <a:srcRect xmlns:a="http://schemas.openxmlformats.org/drawingml/2006/main" l="0" t="17607" r="0" b="1760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38900" y="2228850"/>
            <a:ext cx="4610100" cy="3333750"/>
          </a:xfrm>
          <a:prstGeom xmlns:a="http://schemas.openxmlformats.org/drawingml/2006/main" prst="roundRect">
            <a:avLst>
              <a:gd name="adj" fmla="val 571"/>
            </a:avLst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447FAC-0A20-44FA-AE18-3CF279BF7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516255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46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B8D4DD-BA64-4E96-9816-DF4C738B5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210175"/>
            <a:ext cx="219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F7F3E9"/>
                </a:solidFill>
              </a:defRPr>
            </a:pPr>
            <a:r>
              <a:rPr sz="900" b="1" i="0">
                <a:solidFill>
                  <a:srgbClr val="F7F3E9"/>
                </a:solidFill>
              </a:rPr>
              <a:t>LOCAL GALLERY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149BFE-50E2-4811-A5C0-5A32B3599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7531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B6462D"/>
                </a:solidFill>
              </a:defRPr>
            </a:pPr>
            <a:r>
              <a:rPr sz="900" b="1" i="0">
                <a:solidFill>
                  <a:srgbClr val="B6462D"/>
                </a:solidFill>
              </a:rPr>
              <a:t>审 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6DCA8A-3356-4EBB-B4DA-2A4C6EF3B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705475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7191A"/>
                </a:solidFill>
              </a:defRPr>
            </a:pPr>
            <a:r>
              <a:rPr sz="1275" b="1" i="0">
                <a:solidFill>
                  <a:srgbClr val="17191A"/>
                </a:solidFill>
              </a:rPr>
              <a:t>身份 / 服装 / 肢体 / 双人串位 / 构图 / 光照 / 场景叙事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357BEB-30EE-450B-B0A7-5C026DC9A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7531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4E8690"/>
                </a:solidFill>
              </a:defRPr>
            </a:pPr>
            <a:r>
              <a:rPr sz="900" b="1" i="0">
                <a:solidFill>
                  <a:srgbClr val="4E8690"/>
                </a:solidFill>
              </a:rPr>
              <a:t>存 储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80743E-6F3E-4AD7-A78A-EBF329575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705475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7191A"/>
                </a:solidFill>
              </a:defRPr>
            </a:pPr>
            <a:r>
              <a:rPr sz="1275" b="1" i="0">
                <a:solidFill>
                  <a:srgbClr val="17191A"/>
                </a:solidFill>
              </a:rPr>
              <a:t>IndexedDB 图片与历史 · 版本化 JSON 备份 / 恢复</a:t>
            </a:r>
          </a:p>
        </p:txBody>
      </p:sp>
    </p:spTree>
    <p:extLst>
      <p:ext uri="{BB962C8B-B14F-4D97-AF65-F5344CB8AC3E}">
        <p14:creationId xmlns:p14="http://schemas.microsoft.com/office/powerpoint/2010/main" val="198709683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EAE5D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66D2CBB-578B-44D1-8AC9-1362A2FBC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9AF32E-33C0-400D-BD69-BE768E941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619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B6462D"/>
                </a:solidFill>
              </a:defRPr>
            </a:pPr>
            <a:r>
              <a:rPr sz="1200" b="1" i="0">
                <a:solidFill>
                  <a:srgbClr val="B6462D"/>
                </a:solidFill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936894-F9CF-4480-B07A-4A4948326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71475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6F706D"/>
                </a:solidFill>
              </a:defRPr>
            </a:pPr>
            <a:r>
              <a:rPr sz="1050" b="1" i="0">
                <a:solidFill>
                  <a:srgbClr val="6F706D"/>
                </a:solidFill>
              </a:rPr>
              <a:t>KNOWLEDGE / CREATIVE SYSTEM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A71558-DC59-4D75-B512-C06ED8415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7191A"/>
                </a:solidFill>
              </a:defRPr>
            </a:pPr>
            <a:r>
              <a:rPr sz="2850" b="1" i="0">
                <a:solidFill>
                  <a:srgbClr val="17191A"/>
                </a:solidFill>
              </a:rPr>
              <a:t>角色、画风、模型与剧本规范，让输出保持同一世界观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DCB48D-76C5-4C3C-A5BB-1CAA9482E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EBCD97-EA48-4682-8478-F25E0F57B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8115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F706D"/>
                </a:solidFill>
              </a:defRPr>
            </a:pPr>
            <a:r>
              <a:rPr sz="1350" b="0" i="0">
                <a:solidFill>
                  <a:srgbClr val="6F706D"/>
                </a:solidFill>
              </a:rPr>
              <a:t>创作知识不是散落说明，而是可以被场景、Prompt 与维护工具共同使用的结构化资产。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A2B852-52A8-47D8-8C12-B7074807C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643890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6F706D"/>
                </a:solidFill>
              </a:defRPr>
            </a:pPr>
            <a:r>
              <a:rPr sz="825" b="0" i="0">
                <a:solidFill>
                  <a:srgbClr val="6F706D"/>
                </a:solidFill>
              </a:rPr>
              <a:t>AI-CG-STUDIO / FIELD RECORD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535237-357D-4F31-BC73-69041B5C1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4953000" cy="1295400"/>
          </a:xfrm>
          <a:prstGeom xmlns:a="http://schemas.openxmlformats.org/drawingml/2006/main" prst="roundRect">
            <a:avLst>
              <a:gd name="adj" fmla="val 1471"/>
            </a:avLst>
          </a:prstGeom>
          <a:solidFill xmlns:a="http://schemas.openxmlformats.org/drawingml/2006/main">
            <a:srgbClr val="17191A"/>
          </a:solidFill>
          <a:ln xmlns:a="http://schemas.openxmlformats.org/drawingml/2006/main" w="9525">
            <a:solidFill>
              <a:srgbClr val="17191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C6C93D-CC86-43B6-B2B8-84D0B26FE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574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B6462D"/>
                </a:solidFill>
              </a:defRPr>
            </a:pPr>
            <a:r>
              <a:rPr sz="900" b="1" i="0">
                <a:solidFill>
                  <a:srgbClr val="B6462D"/>
                </a:solidFill>
              </a:rPr>
              <a:t>CHARACTER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5237FA-D615-499E-B915-1DF88ACFA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4320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7F3E9"/>
                </a:solidFill>
              </a:defRPr>
            </a:pPr>
            <a:r>
              <a:rPr sz="1800" b="1" i="0">
                <a:solidFill>
                  <a:srgbClr val="F7F3E9"/>
                </a:solidFill>
              </a:rPr>
              <a:t>角色档案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BE8B7E-5837-47FC-A048-4F4420939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724150"/>
            <a:ext cx="2609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D8D1C3"/>
                </a:solidFill>
              </a:defRPr>
            </a:pPr>
            <a:r>
              <a:rPr sz="1200" b="0" i="0">
                <a:solidFill>
                  <a:srgbClr val="D8D1C3"/>
                </a:solidFill>
              </a:rPr>
              <a:t>官方特征、性格、经典服装与绑定模型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E1CF6E-DED8-4241-8E38-91379F18E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66950"/>
            <a:ext cx="4953000" cy="1295400"/>
          </a:xfrm>
          <a:prstGeom xmlns:a="http://schemas.openxmlformats.org/drawingml/2006/main" prst="roundRect">
            <a:avLst>
              <a:gd name="adj" fmla="val 1471"/>
            </a:avLst>
          </a:prstGeom>
          <a:solidFill xmlns:a="http://schemas.openxmlformats.org/drawingml/2006/main">
            <a:srgbClr val="F7F3E9"/>
          </a:solidFill>
          <a:ln xmlns:a="http://schemas.openxmlformats.org/drawingml/2006/main" w="9525">
            <a:solidFill>
              <a:srgbClr val="17191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1EF5F9-62C5-4F25-BD91-9F8EABA87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4574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B6462D"/>
                </a:solidFill>
              </a:defRPr>
            </a:pPr>
            <a:r>
              <a:rPr sz="900" b="1" i="0">
                <a:solidFill>
                  <a:srgbClr val="B6462D"/>
                </a:solidFill>
              </a:rPr>
              <a:t>STYLE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8B9291-BA3D-4267-A6AF-F970D82C6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74320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7191A"/>
                </a:solidFill>
              </a:defRPr>
            </a:pPr>
            <a:r>
              <a:rPr sz="1800" b="1" i="0">
                <a:solidFill>
                  <a:srgbClr val="17191A"/>
                </a:solidFill>
              </a:rPr>
              <a:t>画风与色彩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F87C9E-D057-4F8D-92EC-101645F31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724150"/>
            <a:ext cx="2609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F706D"/>
                </a:solidFill>
              </a:defRPr>
            </a:pPr>
            <a:r>
              <a:rPr sz="1200" b="0" i="0">
                <a:solidFill>
                  <a:srgbClr val="6F706D"/>
                </a:solidFill>
              </a:rPr>
              <a:t>色调、配色、光源理由与情绪脚本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4EDFE2-2C62-48B5-AA41-EE297B63E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67150"/>
            <a:ext cx="4953000" cy="1295400"/>
          </a:xfrm>
          <a:prstGeom xmlns:a="http://schemas.openxmlformats.org/drawingml/2006/main" prst="roundRect">
            <a:avLst>
              <a:gd name="adj" fmla="val 1471"/>
            </a:avLst>
          </a:prstGeom>
          <a:solidFill xmlns:a="http://schemas.openxmlformats.org/drawingml/2006/main">
            <a:srgbClr val="F7F3E9"/>
          </a:solidFill>
          <a:ln xmlns:a="http://schemas.openxmlformats.org/drawingml/2006/main" w="9525">
            <a:solidFill>
              <a:srgbClr val="17191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EEB61E-8333-4C39-B7E3-C519CCB94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576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B6462D"/>
                </a:solidFill>
              </a:defRPr>
            </a:pPr>
            <a:r>
              <a:rPr sz="900" b="1" i="0">
                <a:solidFill>
                  <a:srgbClr val="B6462D"/>
                </a:solidFill>
              </a:rPr>
              <a:t>LORA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A9C967-5AEF-468E-9B31-57854114B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4340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7191A"/>
                </a:solidFill>
              </a:defRPr>
            </a:pPr>
            <a:r>
              <a:rPr sz="1800" b="1" i="0">
                <a:solidFill>
                  <a:srgbClr val="17191A"/>
                </a:solidFill>
              </a:rPr>
              <a:t>模型目录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01E897-EFC6-44B4-A8B0-0B84361E8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324350"/>
            <a:ext cx="2609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F706D"/>
                </a:solidFill>
              </a:defRPr>
            </a:pPr>
            <a:r>
              <a:rPr sz="1200" b="0" i="0">
                <a:solidFill>
                  <a:srgbClr val="6F706D"/>
                </a:solidFill>
              </a:rPr>
              <a:t>触发词、推荐强度、训练参数</a:t>
            </a:r>
          </a:p>
          <a:p xmlns:a="http://schemas.openxmlformats.org/drawingml/2006/main">
            <a:pPr algn="l">
              <a:defRPr sz="1200" b="0" i="0">
                <a:solidFill>
                  <a:srgbClr val="6F706D"/>
                </a:solidFill>
              </a:defRPr>
            </a:pPr>
            <a:r>
              <a:rPr sz="1200" b="0" i="0">
                <a:solidFill>
                  <a:srgbClr val="6F706D"/>
                </a:solidFill>
              </a:rPr>
              <a:t>与模型 Profile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240164F-1D62-4850-B6A9-1E23FCD03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867150"/>
            <a:ext cx="4953000" cy="1295400"/>
          </a:xfrm>
          <a:prstGeom xmlns:a="http://schemas.openxmlformats.org/drawingml/2006/main" prst="roundRect">
            <a:avLst>
              <a:gd name="adj" fmla="val 1471"/>
            </a:avLst>
          </a:prstGeom>
          <a:solidFill xmlns:a="http://schemas.openxmlformats.org/drawingml/2006/main">
            <a:srgbClr val="17191A"/>
          </a:solidFill>
          <a:ln xmlns:a="http://schemas.openxmlformats.org/drawingml/2006/main" w="9525">
            <a:solidFill>
              <a:srgbClr val="17191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82DDC8-B912-4DCD-BE7E-BFB23610C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0576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B6462D"/>
                </a:solidFill>
              </a:defRPr>
            </a:pPr>
            <a:r>
              <a:rPr sz="900" b="1" i="0">
                <a:solidFill>
                  <a:srgbClr val="B6462D"/>
                </a:solidFill>
              </a:rPr>
              <a:t>SCENARIO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9ADF9DB-115F-4F3B-9F51-63F9CD318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34340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7F3E9"/>
                </a:solidFill>
              </a:defRPr>
            </a:pPr>
            <a:r>
              <a:rPr sz="1800" b="1" i="0">
                <a:solidFill>
                  <a:srgbClr val="F7F3E9"/>
                </a:solidFill>
              </a:rPr>
              <a:t>剧本模式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5334961-044C-4B55-A89B-27050BC29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324350"/>
            <a:ext cx="2609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D8D1C3"/>
                </a:solidFill>
              </a:defRPr>
            </a:pPr>
            <a:r>
              <a:rPr sz="1200" b="0" i="0">
                <a:solidFill>
                  <a:srgbClr val="D8D1C3"/>
                </a:solidFill>
              </a:rPr>
              <a:t>连续镜头、情绪节拍与场景间叙事推进</a:t>
            </a:r>
          </a:p>
        </p:txBody>
      </p:sp>
    </p:spTree>
    <p:extLst>
      <p:ext uri="{BB962C8B-B14F-4D97-AF65-F5344CB8AC3E}">
        <p14:creationId xmlns:p14="http://schemas.microsoft.com/office/powerpoint/2010/main" val="4583463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EAE5D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62791B-8014-46A2-90A4-8623D28C0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46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A5FD1C-7AF5-4B42-BED0-53C8ACEE0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619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B6462D"/>
                </a:solidFill>
              </a:defRPr>
            </a:pPr>
            <a:r>
              <a:rPr sz="1200" b="1" i="0">
                <a:solidFill>
                  <a:srgbClr val="B6462D"/>
                </a:solidFill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7C8026-DF38-427F-ADCE-6FAD94861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71475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6F706D"/>
                </a:solidFill>
              </a:defRPr>
            </a:pPr>
            <a:r>
              <a:rPr sz="1050" b="1" i="0">
                <a:solidFill>
                  <a:srgbClr val="6F706D"/>
                </a:solidFill>
              </a:rPr>
              <a:t>TRAINING / LOCAL CRAFT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CDC89B-D87C-4D5F-87B8-97771F02B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7191A"/>
                </a:solidFill>
              </a:defRPr>
            </a:pPr>
            <a:r>
              <a:rPr sz="2850" b="1" i="0">
                <a:solidFill>
                  <a:srgbClr val="17191A"/>
                </a:solidFill>
              </a:rPr>
              <a:t>训练台把角色 LoRA 与角色语音放进同一套可检查工作区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F0FD97-B9BF-481A-BF38-16A379BE9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AFC461-5B65-4A17-8833-783F5C9F1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8115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F706D"/>
                </a:solidFill>
              </a:defRPr>
            </a:pPr>
            <a:r>
              <a:rPr sz="1350" b="0" i="0">
                <a:solidFill>
                  <a:srgbClr val="6F706D"/>
                </a:solidFill>
              </a:rPr>
              <a:t>从数据准备、训练方案、运行状态到日志与评测，都能在本机完成和回溯。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BC9F6F-3588-486E-998D-A37698CEB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643890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6F706D"/>
                </a:solidFill>
              </a:defRPr>
            </a:pPr>
            <a:r>
              <a:rPr sz="825" b="0" i="0">
                <a:solidFill>
                  <a:srgbClr val="6F706D"/>
                </a:solidFill>
              </a:rPr>
              <a:t>AI-CG-STUDIO / FIELD RECORD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C7FEB7-A5CF-4D89-AFAE-8D8BE176F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990725"/>
            <a:ext cx="4800600" cy="411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A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3df5b2874d4954"/>
          <a:srcRect xmlns:a="http://schemas.openxmlformats.org/drawingml/2006/main" l="0" t="11838" r="0" b="1183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19850" y="2076450"/>
            <a:ext cx="4629150" cy="3943350"/>
          </a:xfrm>
          <a:prstGeom xmlns:a="http://schemas.openxmlformats.org/drawingml/2006/main" prst="roundRect">
            <a:avLst>
              <a:gd name="adj" fmla="val 483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0581D3-1092-4812-8452-25BEC6291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561975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46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4CC8EE-F9CC-4371-ADDE-3214BF5E6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5667375"/>
            <a:ext cx="219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F7F3E9"/>
                </a:solidFill>
              </a:defRPr>
            </a:pPr>
            <a:r>
              <a:rPr sz="900" b="1" i="0">
                <a:solidFill>
                  <a:srgbClr val="F7F3E9"/>
                </a:solidFill>
              </a:rPr>
              <a:t>TRAINING WORKBENCH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F332A0-B33B-425E-AFB2-784990833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8600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B6462D"/>
                </a:solidFill>
              </a:defRPr>
            </a:pPr>
            <a:r>
              <a:rPr sz="1050" b="1" i="0">
                <a:solidFill>
                  <a:srgbClr val="B6462D"/>
                </a:solidFill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002152-5485-44E7-882B-E48349516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66950"/>
            <a:ext cx="4533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7191A"/>
                </a:solidFill>
              </a:defRPr>
            </a:pPr>
            <a:r>
              <a:rPr sz="1650" b="1" i="0">
                <a:solidFill>
                  <a:srgbClr val="17191A"/>
                </a:solidFill>
              </a:rPr>
              <a:t>角色 LoRA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53BEFA-A10F-4C5C-8AA7-1C41EA86C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609850"/>
            <a:ext cx="4533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F706D"/>
                </a:solidFill>
              </a:defRPr>
            </a:pPr>
            <a:r>
              <a:rPr sz="1200" b="0" i="0">
                <a:solidFill>
                  <a:srgbClr val="6F706D"/>
                </a:solidFill>
              </a:rPr>
              <a:t>优先稳定脸型、人物特征与经典服装；配置底模、分辨率、Rank、学习率和精度。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E0D1BB-C6BE-4A29-83F9-85E9CAB87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0045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B6462D"/>
                </a:solidFill>
              </a:defRPr>
            </a:pPr>
            <a:r>
              <a:rPr sz="1050" b="1" i="0">
                <a:solidFill>
                  <a:srgbClr val="B6462D"/>
                </a:solidFill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3B4CF5-E936-4BE7-89FE-3D38397B1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81400"/>
            <a:ext cx="4533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7191A"/>
                </a:solidFill>
              </a:defRPr>
            </a:pPr>
            <a:r>
              <a:rPr sz="1650" b="1" i="0">
                <a:solidFill>
                  <a:srgbClr val="17191A"/>
                </a:solidFill>
              </a:rPr>
              <a:t>角色语音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9FD7B1-F418-4332-898D-D9E413F5E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24300"/>
            <a:ext cx="4533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F706D"/>
                </a:solidFill>
              </a:defRPr>
            </a:pPr>
            <a:r>
              <a:rPr sz="1200" b="0" i="0">
                <a:solidFill>
                  <a:srgbClr val="6F706D"/>
                </a:solidFill>
              </a:rPr>
              <a:t>GPT-SoVITS 训练与评测沿用同一工作区，日志和失败状态可见。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AD27D9-CEA1-4CFC-82B9-E21E6D640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1490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B6462D"/>
                </a:solidFill>
              </a:defRPr>
            </a:pPr>
            <a:r>
              <a:rPr sz="1050" b="1" i="0">
                <a:solidFill>
                  <a:srgbClr val="B6462D"/>
                </a:solidFill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07119C-61A8-4104-BE44-2581482BC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895850"/>
            <a:ext cx="4533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7191A"/>
                </a:solidFill>
              </a:defRPr>
            </a:pPr>
            <a:r>
              <a:rPr sz="1650" b="1" i="0">
                <a:solidFill>
                  <a:srgbClr val="17191A"/>
                </a:solidFill>
              </a:rPr>
              <a:t>资源可控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33274B1-4B57-4CA5-A91C-4B7E58F57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238750"/>
            <a:ext cx="4533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F706D"/>
                </a:solidFill>
              </a:defRPr>
            </a:pPr>
            <a:r>
              <a:rPr sz="1200" b="0" i="0">
                <a:solidFill>
                  <a:srgbClr val="6F706D"/>
                </a:solidFill>
              </a:rPr>
              <a:t>训练任务与聊天、绘图服务共享本机资源，避免显存争用与隐式启动。</a:t>
            </a:r>
          </a:p>
        </p:txBody>
      </p:sp>
    </p:spTree>
    <p:extLst>
      <p:ext uri="{BB962C8B-B14F-4D97-AF65-F5344CB8AC3E}">
        <p14:creationId xmlns:p14="http://schemas.microsoft.com/office/powerpoint/2010/main" val="17602124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EAE5D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A397B1B-E60B-42FA-B662-A25193050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F6E4CB-DBF9-4397-B7CE-420E64F93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619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B6462D"/>
                </a:solidFill>
              </a:defRPr>
            </a:pPr>
            <a:r>
              <a:rPr sz="1200" b="1" i="0">
                <a:solidFill>
                  <a:srgbClr val="B6462D"/>
                </a:solidFill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360127-74FE-411F-9EE6-16F1C6576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71475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6F706D"/>
                </a:solidFill>
              </a:defRPr>
            </a:pPr>
            <a:r>
              <a:rPr sz="1050" b="1" i="0">
                <a:solidFill>
                  <a:srgbClr val="6F706D"/>
                </a:solidFill>
              </a:rPr>
              <a:t>OPERATIONS / SAFE SHARING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800BA1-DAC5-4249-88D2-65C114EBB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7191A"/>
                </a:solidFill>
              </a:defRPr>
            </a:pPr>
            <a:r>
              <a:rPr sz="2850" b="1" i="0">
                <a:solidFill>
                  <a:srgbClr val="17191A"/>
                </a:solidFill>
              </a:rPr>
              <a:t>控制面板把显存调度、服务生命周期与可信分享集中到一个入口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5C3D79-C9FA-481D-9464-A5DA21DCA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EE0F3F-4588-4CB5-8DB5-298B7A3E2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8115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F706D"/>
                </a:solidFill>
              </a:defRPr>
            </a:pPr>
            <a:r>
              <a:rPr sz="1350" b="0" i="0">
                <a:solidFill>
                  <a:srgbClr val="6F706D"/>
                </a:solidFill>
              </a:rPr>
              <a:t>绘图优先与聊天优先都会先释放再加载；语音服务默认不自动启动。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CFD2CD-2CDC-47C3-A91C-9969DC53A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643890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6F706D"/>
                </a:solidFill>
              </a:defRPr>
            </a:pPr>
            <a:r>
              <a:rPr sz="825" b="0" i="0">
                <a:solidFill>
                  <a:srgbClr val="6F706D"/>
                </a:solidFill>
              </a:rPr>
              <a:t>AI-CG-STUDIO / FIELD RECORD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793DDE-B671-452B-B0EC-271A74552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1990725"/>
            <a:ext cx="4933950" cy="415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A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41971d85bf4651"/>
          <a:srcRect xmlns:a="http://schemas.openxmlformats.org/drawingml/2006/main" l="0" t="12549" r="0" b="1254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2076450"/>
            <a:ext cx="4762500" cy="3981450"/>
          </a:xfrm>
          <a:prstGeom xmlns:a="http://schemas.openxmlformats.org/drawingml/2006/main" prst="roundRect">
            <a:avLst>
              <a:gd name="adj" fmla="val 478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C6F7D0-225E-4C66-BBAA-CB8853BDC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5785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46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77209C-828B-4597-A53A-B2707098C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705475"/>
            <a:ext cx="219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F7F3E9"/>
                </a:solidFill>
              </a:defRPr>
            </a:pPr>
            <a:r>
              <a:rPr sz="900" b="1" i="0">
                <a:solidFill>
                  <a:srgbClr val="F7F3E9"/>
                </a:solidFill>
              </a:rPr>
              <a:t>LOCAL CONTROL PANEL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99516C-E808-483D-8976-7E2B19DF7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28600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B6462D"/>
                </a:solidFill>
              </a:defRPr>
            </a:pPr>
            <a:r>
              <a:rPr sz="1050" b="1" i="0">
                <a:solidFill>
                  <a:srgbClr val="B6462D"/>
                </a:solidFill>
              </a:rPr>
              <a:t>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8D2B54-360D-44D5-995B-296341B34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266950"/>
            <a:ext cx="434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7191A"/>
                </a:solidFill>
              </a:defRPr>
            </a:pPr>
            <a:r>
              <a:rPr sz="1650" b="1" i="0">
                <a:solidFill>
                  <a:srgbClr val="17191A"/>
                </a:solidFill>
              </a:rPr>
              <a:t>资源调度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B0525E-F82F-43BF-8B02-203AA1C1F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609850"/>
            <a:ext cx="4343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F706D"/>
                </a:solidFill>
              </a:defRPr>
            </a:pPr>
            <a:r>
              <a:rPr sz="1200" b="0" i="0">
                <a:solidFill>
                  <a:srgbClr val="6F706D"/>
                </a:solidFill>
              </a:rPr>
              <a:t>一键切换绘图优先 / 聊天优先；也可单独启停语音、WebUI 与 Ollama。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345B5A-E63C-4ACF-B819-F1423E4B9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56235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B6462D"/>
                </a:solidFill>
              </a:defRPr>
            </a:pPr>
            <a:r>
              <a:rPr sz="1050" b="1" i="0">
                <a:solidFill>
                  <a:srgbClr val="B6462D"/>
                </a:solidFill>
              </a:rPr>
              <a:t>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704C90-FC85-4D41-8D04-C8AC0063F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543300"/>
            <a:ext cx="434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7191A"/>
                </a:solidFill>
              </a:defRPr>
            </a:pPr>
            <a:r>
              <a:rPr sz="1650" b="1" i="0">
                <a:solidFill>
                  <a:srgbClr val="17191A"/>
                </a:solidFill>
              </a:rPr>
              <a:t>本机安全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2FCBC5-78B2-4205-825F-F3D1FD6B2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886200"/>
            <a:ext cx="4343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F706D"/>
                </a:solidFill>
              </a:defRPr>
            </a:pPr>
            <a:r>
              <a:rPr sz="1200" b="0" i="0">
                <a:solidFill>
                  <a:srgbClr val="6F706D"/>
                </a:solidFill>
              </a:rPr>
              <a:t>控制面与维护路由复用本机判断与 URL 校验；未知 API 不回退 SPA。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240E0E-08C2-4B7A-9AEA-56F1AD85C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83870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B6462D"/>
                </a:solidFill>
              </a:defRPr>
            </a:pPr>
            <a:r>
              <a:rPr sz="1050" b="1" i="0">
                <a:solidFill>
                  <a:srgbClr val="B6462D"/>
                </a:solidFill>
              </a:rPr>
              <a:t>C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D583A8-E1C7-4DF9-849E-6FA2AD4DC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819650"/>
            <a:ext cx="434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7191A"/>
                </a:solidFill>
              </a:defRPr>
            </a:pPr>
            <a:r>
              <a:rPr sz="1650" b="1" i="0">
                <a:solidFill>
                  <a:srgbClr val="17191A"/>
                </a:solidFill>
              </a:rPr>
              <a:t>临时分享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598B8F3-E28A-40A3-B8BA-1CE673FE8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162550"/>
            <a:ext cx="4343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F706D"/>
                </a:solidFill>
              </a:defRPr>
            </a:pPr>
            <a:r>
              <a:rPr sz="1200" b="0" i="0">
                <a:solidFill>
                  <a:srgbClr val="6F706D"/>
                </a:solidFill>
              </a:rPr>
              <a:t>网关使用持久 token；可通过临时 tunnel 给可信朋友开放受保护的本地生成入口。</a:t>
            </a:r>
          </a:p>
        </p:txBody>
      </p:sp>
    </p:spTree>
    <p:extLst>
      <p:ext uri="{BB962C8B-B14F-4D97-AF65-F5344CB8AC3E}">
        <p14:creationId xmlns:p14="http://schemas.microsoft.com/office/powerpoint/2010/main" val="46129719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EAE5D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BBDE21C-00A1-48DD-8CF2-D5A32BDC6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46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92E5C2-D734-4610-A2F1-FFB968B8D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619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B6462D"/>
                </a:solidFill>
              </a:defRPr>
            </a:pPr>
            <a:r>
              <a:rPr sz="1200" b="1" i="0">
                <a:solidFill>
                  <a:srgbClr val="B6462D"/>
                </a:solidFill>
              </a:rPr>
              <a:t>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E62B6E-0607-497B-9466-DB96CD64B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71475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6F706D"/>
                </a:solidFill>
              </a:defRPr>
            </a:pPr>
            <a:r>
              <a:rPr sz="1050" b="1" i="0">
                <a:solidFill>
                  <a:srgbClr val="6F706D"/>
                </a:solidFill>
              </a:rPr>
              <a:t>ARCHITECTURE / QUALITY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A8B14C-005A-4BD3-A047-543B199F5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7191A"/>
                </a:solidFill>
              </a:defRPr>
            </a:pPr>
            <a:r>
              <a:rPr sz="2850" b="1" i="0">
                <a:solidFill>
                  <a:srgbClr val="17191A"/>
                </a:solidFill>
              </a:rPr>
              <a:t>清晰的所有权与真实路由测试，保证创作体验不被技术债拖慢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2EE9FF-69CA-4102-ADAB-67145C709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3E5B7C-8921-43A6-97C3-CB79EE643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8115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F706D"/>
                </a:solidFill>
              </a:defRPr>
            </a:pPr>
            <a:r>
              <a:rPr sz="1350" b="0" i="0">
                <a:solidFill>
                  <a:srgbClr val="6F706D"/>
                </a:solidFill>
              </a:rPr>
              <a:t>Vue 3 单页应用负责交互，Express 网关负责本机服务与安全边界。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344CE4-67A1-4127-9D51-7276529F5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643890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6F706D"/>
                </a:solidFill>
              </a:defRPr>
            </a:pPr>
            <a:r>
              <a:rPr sz="825" b="0" i="0">
                <a:solidFill>
                  <a:srgbClr val="6F706D"/>
                </a:solidFill>
              </a:rPr>
              <a:t>AI-CG-STUDIO / FIELD RECORD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390B80-D3CA-4180-A4EF-85B833E25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108204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4386F4-BDD8-46E5-B1A3-D354C94F0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765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B6462D"/>
                </a:solidFill>
              </a:defRPr>
            </a:pPr>
            <a:r>
              <a:rPr sz="975" b="1" i="0">
                <a:solidFill>
                  <a:srgbClr val="B6462D"/>
                </a:solidFill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0CF3DF-4B67-4D6A-A2AB-F41989286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4574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7F3E9"/>
                </a:solidFill>
              </a:defRPr>
            </a:pPr>
            <a:r>
              <a:rPr sz="1350" b="1" i="0">
                <a:solidFill>
                  <a:srgbClr val="F7F3E9"/>
                </a:solidFill>
              </a:rPr>
              <a:t>VUE 3 + VITE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1669F1-00D6-4507-A0B3-C3D1BB00D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4765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D8D1C3"/>
                </a:solidFill>
              </a:defRPr>
            </a:pPr>
            <a:r>
              <a:rPr sz="1275" b="0" i="0">
                <a:solidFill>
                  <a:srgbClr val="D8D1C3"/>
                </a:solidFill>
              </a:rPr>
              <a:t>懒加载视图 · Pinia 单例状态 · SFC 设计系统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2EB87E-3586-428B-A526-6813BA33F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876550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40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C99226-FF05-4F25-B800-09BE86A5D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051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4E8690"/>
                </a:solidFill>
              </a:defRPr>
            </a:pPr>
            <a:r>
              <a:rPr sz="975" b="1" i="0">
                <a:solidFill>
                  <a:srgbClr val="4E8690"/>
                </a:solidFill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E7DC87-D3B8-419D-BD16-D0D1896DB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0861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7F3E9"/>
                </a:solidFill>
              </a:defRPr>
            </a:pPr>
            <a:r>
              <a:rPr sz="1350" b="1" i="0">
                <a:solidFill>
                  <a:srgbClr val="F7F3E9"/>
                </a:solidFill>
              </a:rPr>
              <a:t>COMPOSABLES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4F36B6-EF88-4BE1-AF59-2FF0EFD97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1051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D8D1C3"/>
                </a:solidFill>
              </a:defRPr>
            </a:pPr>
            <a:r>
              <a:rPr sz="1275" b="0" i="0">
                <a:solidFill>
                  <a:srgbClr val="D8D1C3"/>
                </a:solidFill>
              </a:rPr>
              <a:t>SD 生成 · Live2D · Voice · IndexedDB · Backup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A9D1EF-DFC5-413E-8F6B-7F0D544C7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505200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40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D0CF39-8C83-4D04-BC16-65F01E307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7338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B6462D"/>
                </a:solidFill>
              </a:defRPr>
            </a:pPr>
            <a:r>
              <a:rPr sz="975" b="1" i="0">
                <a:solidFill>
                  <a:srgbClr val="B6462D"/>
                </a:solidFill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FC1238-4A7D-4599-A750-6B9E278C8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7147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7F3E9"/>
                </a:solidFill>
              </a:defRPr>
            </a:pPr>
            <a:r>
              <a:rPr sz="1350" b="1" i="0">
                <a:solidFill>
                  <a:srgbClr val="F7F3E9"/>
                </a:solidFill>
              </a:rPr>
              <a:t>EXPRESS GATEWAY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753FC1-D741-4A82-9B05-47C217665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7338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D8D1C3"/>
                </a:solidFill>
              </a:defRPr>
            </a:pPr>
            <a:r>
              <a:rPr sz="1275" b="0" i="0">
                <a:solidFill>
                  <a:srgbClr val="D8D1C3"/>
                </a:solidFill>
              </a:rPr>
              <a:t>SD / Chat / TTS / Translate / Maintenance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85FCE22-DFB1-4252-90A5-BCEE2CF44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133850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40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D953F5-E859-4E9E-8FDD-4E3863FDC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624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4E8690"/>
                </a:solidFill>
              </a:defRPr>
            </a:pPr>
            <a:r>
              <a:rPr sz="975" b="1" i="0">
                <a:solidFill>
                  <a:srgbClr val="4E8690"/>
                </a:solidFill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3C44A9F-D66E-481F-BD1D-0DF7DFDDD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3434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7F3E9"/>
                </a:solidFill>
              </a:defRPr>
            </a:pPr>
            <a:r>
              <a:rPr sz="1350" b="1" i="0">
                <a:solidFill>
                  <a:srgbClr val="F7F3E9"/>
                </a:solidFill>
              </a:rPr>
              <a:t>LOCAL RUNTIMES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C700226-8DCF-4D01-9BEB-811262B9F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3624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D8D1C3"/>
                </a:solidFill>
              </a:defRPr>
            </a:pPr>
            <a:r>
              <a:rPr sz="1275" b="0" i="0">
                <a:solidFill>
                  <a:srgbClr val="D8D1C3"/>
                </a:solidFill>
              </a:rPr>
              <a:t>WebUI · Ollama · GPT-SoVITS · Cloudflared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758C028-97EF-4B52-A78D-A1D4914FA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43550"/>
            <a:ext cx="1390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46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6567A74-E024-40E3-9D85-8A02DB650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91175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F7F3E9"/>
                </a:solidFill>
              </a:defRPr>
            </a:pPr>
            <a:r>
              <a:rPr sz="900" b="1" i="0">
                <a:solidFill>
                  <a:srgbClr val="F7F3E9"/>
                </a:solidFill>
              </a:rPr>
              <a:t>QUALITY GATES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B1B6FCB-854A-460D-B75E-E56624292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5816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7191A"/>
                </a:solidFill>
              </a:defRPr>
            </a:pPr>
            <a:r>
              <a:rPr sz="1275" b="1" i="0">
                <a:solidFill>
                  <a:srgbClr val="17191A"/>
                </a:solidFill>
              </a:rPr>
              <a:t>vue-tsc  ·  runtime build  ·  contracts  ·  security routes  ·  Playwright E2E</a:t>
            </a:r>
          </a:p>
        </p:txBody>
      </p:sp>
    </p:spTree>
    <p:extLst>
      <p:ext uri="{BB962C8B-B14F-4D97-AF65-F5344CB8AC3E}">
        <p14:creationId xmlns:p14="http://schemas.microsoft.com/office/powerpoint/2010/main" val="46368078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1719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50B13E-4344-445C-894A-67244E78F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46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3F6778-7EEB-413C-8313-E2B71C9FD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B6462D"/>
                </a:solidFill>
              </a:defRPr>
            </a:pPr>
            <a:r>
              <a:rPr sz="1050" b="1" i="0">
                <a:solidFill>
                  <a:srgbClr val="B6462D"/>
                </a:solidFill>
              </a:rPr>
              <a:t>CONCLUSION / 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25ADB9-4BB1-43FC-8C40-2F7ACC5FB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93345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F7F3E9"/>
                </a:solidFill>
              </a:defRPr>
            </a:pPr>
            <a:r>
              <a:rPr sz="3450" b="1" i="0">
                <a:solidFill>
                  <a:srgbClr val="F7F3E9"/>
                </a:solidFill>
              </a:rPr>
              <a:t>把提示词藏到幕后，</a:t>
            </a:r>
          </a:p>
          <a:p xmlns:a="http://schemas.openxmlformats.org/drawingml/2006/main">
            <a:pPr algn="l">
              <a:defRPr sz="3450" b="1" i="0">
                <a:solidFill>
                  <a:srgbClr val="F7F3E9"/>
                </a:solidFill>
              </a:defRPr>
            </a:pPr>
            <a:r>
              <a:rPr sz="3450" b="1" i="0">
                <a:solidFill>
                  <a:srgbClr val="F7F3E9"/>
                </a:solidFill>
              </a:rPr>
              <a:t>把“想画的那一刻”留在前台。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FAC726-224F-4106-A0C5-49DE0B84F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19450"/>
            <a:ext cx="2476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46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061F37-E670-4A29-BB77-259043B6F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7905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D8D1C3"/>
                </a:solidFill>
              </a:defRPr>
            </a:pPr>
            <a:r>
              <a:rPr sz="1725" b="0" i="0">
                <a:solidFill>
                  <a:srgbClr val="D8D1C3"/>
                </a:solidFill>
              </a:rPr>
              <a:t>绫季绘境的价值不在于堆叠更多模型，而在于让灵感、角色、生成、配音、审核与回忆形成一条可持续的个人创作链路。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7C0A01-016F-4B29-8E4C-23685266E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435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B6462D"/>
                </a:solidFill>
              </a:defRPr>
            </a:pPr>
            <a:r>
              <a:rPr sz="975" b="1" i="0">
                <a:solidFill>
                  <a:srgbClr val="B6462D"/>
                </a:solidFill>
              </a:rPr>
              <a:t>LOCAL FIRST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AF0665-5F78-41C5-AAF2-1B8938000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554355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4E8690"/>
                </a:solidFill>
              </a:defRPr>
            </a:pPr>
            <a:r>
              <a:rPr sz="975" b="1" i="0">
                <a:solidFill>
                  <a:srgbClr val="4E8690"/>
                </a:solidFill>
              </a:rPr>
              <a:t>SCENE DRIVEN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3134A1-CAEC-4D3F-9BD3-4D9D0EE8D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554355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B6462D"/>
                </a:solidFill>
              </a:defRPr>
            </a:pPr>
            <a:r>
              <a:rPr sz="975" b="1" i="0">
                <a:solidFill>
                  <a:srgbClr val="B6462D"/>
                </a:solidFill>
              </a:rPr>
              <a:t>PRIVATE BY DESIGN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D24D48-7D2A-4ADB-9013-1189456FE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60960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F7F3E9"/>
                </a:solidFill>
              </a:defRPr>
            </a:pPr>
            <a:r>
              <a:rPr sz="1200" b="1" i="0">
                <a:solidFill>
                  <a:srgbClr val="F7F3E9"/>
                </a:solidFill>
              </a:rPr>
              <a:t>绫季绘境  /  AI-CG-STUDIO</a:t>
            </a:r>
          </a:p>
        </p:txBody>
      </p:sp>
    </p:spTree>
    <p:extLst>
      <p:ext uri="{BB962C8B-B14F-4D97-AF65-F5344CB8AC3E}">
        <p14:creationId xmlns:p14="http://schemas.microsoft.com/office/powerpoint/2010/main" val="11541172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2026-07-29T16:48:38.6740000Z</dcterms:created>
  <dcterms:modified xsi:type="dcterms:W3CDTF">2026-07-29T16:48:38.6740000Z</dcterms:modified>
</coreProperties>
</file>